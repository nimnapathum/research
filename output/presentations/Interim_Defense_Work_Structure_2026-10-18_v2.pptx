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338ba1c54c464f" /><Relationship Type="http://schemas.openxmlformats.org/officeDocument/2006/relationships/extended-properties" Target="/docProps/app.xml" Id="R832e5b14adb645cc" /><Relationship Type="http://schemas.openxmlformats.org/officeDocument/2006/relationships/officeDocument" Target="/ppt/presentation.xml" Id="R31073c344563453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0fc1a5afc4f4dff"/>
  </p:sldMasterIdLst>
  <p:notesMasterIdLst>
    <p:notesMasterId xmlns:r="http://schemas.openxmlformats.org/officeDocument/2006/relationships" r:id="R723e37415a614192"/>
  </p:notesMasterIdLst>
  <p:sldIdLst>
    <p:sldId xmlns:r="http://schemas.openxmlformats.org/officeDocument/2006/relationships" id="256" r:id="R54617cbbe6d54333"/>
    <p:sldId xmlns:r="http://schemas.openxmlformats.org/officeDocument/2006/relationships" id="257" r:id="Ra171984d88a34393"/>
    <p:sldId xmlns:r="http://schemas.openxmlformats.org/officeDocument/2006/relationships" id="258" r:id="R27cdad2183794abc"/>
    <p:sldId xmlns:r="http://schemas.openxmlformats.org/officeDocument/2006/relationships" id="259" r:id="Rf64af5c3933c4f7c"/>
    <p:sldId xmlns:r="http://schemas.openxmlformats.org/officeDocument/2006/relationships" id="260" r:id="Rf06c666c9fa54c30"/>
    <p:sldId xmlns:r="http://schemas.openxmlformats.org/officeDocument/2006/relationships" id="261" r:id="R53662d785fc04c66"/>
    <p:sldId xmlns:r="http://schemas.openxmlformats.org/officeDocument/2006/relationships" id="262" r:id="Rddc63443e3e2428d"/>
    <p:sldId xmlns:r="http://schemas.openxmlformats.org/officeDocument/2006/relationships" id="263" r:id="Rb5f214fd45154805"/>
    <p:sldId xmlns:r="http://schemas.openxmlformats.org/officeDocument/2006/relationships" id="264" r:id="R3df170d38bd64200"/>
    <p:sldId xmlns:r="http://schemas.openxmlformats.org/officeDocument/2006/relationships" id="265" r:id="R20983754f32b4386"/>
    <p:sldId xmlns:r="http://schemas.openxmlformats.org/officeDocument/2006/relationships" id="266" r:id="R3d1eba32855147c5"/>
    <p:sldId xmlns:r="http://schemas.openxmlformats.org/officeDocument/2006/relationships" id="267" r:id="R3dc88452fa384a3b"/>
    <p:sldId xmlns:r="http://schemas.openxmlformats.org/officeDocument/2006/relationships" id="268" r:id="R7b4d344356394253"/>
    <p:sldId xmlns:r="http://schemas.openxmlformats.org/officeDocument/2006/relationships" id="269" r:id="R112ef1e0458a4318"/>
    <p:sldId xmlns:r="http://schemas.openxmlformats.org/officeDocument/2006/relationships" id="270" r:id="Rcd99a5b71e37440b"/>
    <p:sldId xmlns:r="http://schemas.openxmlformats.org/officeDocument/2006/relationships" id="271" r:id="Re6cf06649c424803"/>
    <p:sldId xmlns:r="http://schemas.openxmlformats.org/officeDocument/2006/relationships" id="272" r:id="R6a25d38be06e439e"/>
    <p:sldId xmlns:r="http://schemas.openxmlformats.org/officeDocument/2006/relationships" id="273" r:id="R10b9572f2efe4284"/>
    <p:sldId xmlns:r="http://schemas.openxmlformats.org/officeDocument/2006/relationships" id="274" r:id="R4ef59ce9841144da"/>
    <p:sldId xmlns:r="http://schemas.openxmlformats.org/officeDocument/2006/relationships" id="275" r:id="R28d32e90cb90433c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2922bbbc7f35444f"/>
      <p:bold xmlns:r="http://schemas.openxmlformats.org/officeDocument/2006/relationships" r:id="R950de4a994c7408a"/>
      <p:italic xmlns:r="http://schemas.openxmlformats.org/officeDocument/2006/relationships" r:id="R960d9eec5dd04f74"/>
      <p:boldItalic xmlns:r="http://schemas.openxmlformats.org/officeDocument/2006/relationships" r:id="R69f5362106034760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442c5786c4f85" /><Relationship Type="http://schemas.openxmlformats.org/officeDocument/2006/relationships/slideMaster" Target="/ppt/slideMasters/slideMaster1.xml" Id="R40fc1a5afc4f4dff" /><Relationship Type="http://schemas.openxmlformats.org/officeDocument/2006/relationships/notesMaster" Target="/ppt/notesMasters/notesMaster1.xml" Id="R723e37415a614192" /><Relationship Type="http://schemas.openxmlformats.org/officeDocument/2006/relationships/presProps" Target="/ppt/presProps.xml" Id="Rd1360ab9cdcc42e8" /><Relationship Type="http://schemas.openxmlformats.org/officeDocument/2006/relationships/viewProps" Target="/ppt/viewProps.xml" Id="Rae171f9ff3434a96" /><Relationship Type="http://schemas.openxmlformats.org/officeDocument/2006/relationships/tableStyles" Target="/ppt/tableStyles.xml" Id="Rbfdca20e15984664" /><Relationship Type="http://schemas.openxmlformats.org/officeDocument/2006/relationships/font" Target="/ppt/fonts/font.dat" Id="R2922bbbc7f35444f" /><Relationship Type="http://schemas.openxmlformats.org/officeDocument/2006/relationships/font" Target="/ppt/fonts/font2.dat" Id="R950de4a994c7408a" /><Relationship Type="http://schemas.openxmlformats.org/officeDocument/2006/relationships/font" Target="/ppt/fonts/font3.dat" Id="R960d9eec5dd04f74" /><Relationship Type="http://schemas.openxmlformats.org/officeDocument/2006/relationships/font" Target="/ppt/fonts/font4.dat" Id="R69f5362106034760" /><Relationship Type="http://schemas.openxmlformats.org/officeDocument/2006/relationships/slide" Target="/ppt/slides/slide1.xml" Id="R54617cbbe6d54333" /><Relationship Type="http://schemas.openxmlformats.org/officeDocument/2006/relationships/slide" Target="/ppt/slides/slide2.xml" Id="Ra171984d88a34393" /><Relationship Type="http://schemas.openxmlformats.org/officeDocument/2006/relationships/slide" Target="/ppt/slides/slide3.xml" Id="R27cdad2183794abc" /><Relationship Type="http://schemas.openxmlformats.org/officeDocument/2006/relationships/slide" Target="/ppt/slides/slide4.xml" Id="Rf64af5c3933c4f7c" /><Relationship Type="http://schemas.openxmlformats.org/officeDocument/2006/relationships/slide" Target="/ppt/slides/slide5.xml" Id="Rf06c666c9fa54c30" /><Relationship Type="http://schemas.openxmlformats.org/officeDocument/2006/relationships/slide" Target="/ppt/slides/slide6.xml" Id="R53662d785fc04c66" /><Relationship Type="http://schemas.openxmlformats.org/officeDocument/2006/relationships/slide" Target="/ppt/slides/slide7.xml" Id="Rddc63443e3e2428d" /><Relationship Type="http://schemas.openxmlformats.org/officeDocument/2006/relationships/slide" Target="/ppt/slides/slide8.xml" Id="Rb5f214fd45154805" /><Relationship Type="http://schemas.openxmlformats.org/officeDocument/2006/relationships/slide" Target="/ppt/slides/slide9.xml" Id="R3df170d38bd64200" /><Relationship Type="http://schemas.openxmlformats.org/officeDocument/2006/relationships/slide" Target="/ppt/slides/slide10.xml" Id="R20983754f32b4386" /><Relationship Type="http://schemas.openxmlformats.org/officeDocument/2006/relationships/slide" Target="/ppt/slides/slide11.xml" Id="R3d1eba32855147c5" /><Relationship Type="http://schemas.openxmlformats.org/officeDocument/2006/relationships/slide" Target="/ppt/slides/slide12.xml" Id="R3dc88452fa384a3b" /><Relationship Type="http://schemas.openxmlformats.org/officeDocument/2006/relationships/slide" Target="/ppt/slides/slide13.xml" Id="R7b4d344356394253" /><Relationship Type="http://schemas.openxmlformats.org/officeDocument/2006/relationships/slide" Target="/ppt/slides/slide14.xml" Id="R112ef1e0458a4318" /><Relationship Type="http://schemas.openxmlformats.org/officeDocument/2006/relationships/slide" Target="/ppt/slides/slide15.xml" Id="Rcd99a5b71e37440b" /><Relationship Type="http://schemas.openxmlformats.org/officeDocument/2006/relationships/slide" Target="/ppt/slides/slide16.xml" Id="Re6cf06649c424803" /><Relationship Type="http://schemas.openxmlformats.org/officeDocument/2006/relationships/slide" Target="/ppt/slides/slide17.xml" Id="R6a25d38be06e439e" /><Relationship Type="http://schemas.openxmlformats.org/officeDocument/2006/relationships/slide" Target="/ppt/slides/slide18.xml" Id="R10b9572f2efe4284" /><Relationship Type="http://schemas.openxmlformats.org/officeDocument/2006/relationships/slide" Target="/ppt/slides/slide19.xml" Id="R4ef59ce9841144da" /><Relationship Type="http://schemas.openxmlformats.org/officeDocument/2006/relationships/slide" Target="/ppt/slides/slide20.xml" Id="R28d32e90cb9043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e3a9636caa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f7e25e1d8e49cf" /><Relationship Type="http://schemas.openxmlformats.org/officeDocument/2006/relationships/notesMaster" Target="/ppt/notesMasters/notesMaster1.xml" Id="Rd218bc74652049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f0b9d4698144c0" /><Relationship Type="http://schemas.openxmlformats.org/officeDocument/2006/relationships/notesMaster" Target="/ppt/notesMasters/notesMaster1.xml" Id="R59c5461a7bba42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d279ab526e4e9e" /><Relationship Type="http://schemas.openxmlformats.org/officeDocument/2006/relationships/notesMaster" Target="/ppt/notesMasters/notesMaster1.xml" Id="Ra9c044815ef748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394b51f5e4557" /><Relationship Type="http://schemas.openxmlformats.org/officeDocument/2006/relationships/notesMaster" Target="/ppt/notesMasters/notesMaster1.xml" Id="R27aad489f60048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c0cc1fc4a4a59" /><Relationship Type="http://schemas.openxmlformats.org/officeDocument/2006/relationships/notesMaster" Target="/ppt/notesMasters/notesMaster1.xml" Id="Rf1db253358de46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5d9f0de0d64add" /><Relationship Type="http://schemas.openxmlformats.org/officeDocument/2006/relationships/notesMaster" Target="/ppt/notesMasters/notesMaster1.xml" Id="Rd7c6e4677d5f4e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82b7a16e48417c" /><Relationship Type="http://schemas.openxmlformats.org/officeDocument/2006/relationships/notesMaster" Target="/ppt/notesMasters/notesMaster1.xml" Id="R074dfb45155741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a0c001c5864c6d" /><Relationship Type="http://schemas.openxmlformats.org/officeDocument/2006/relationships/notesMaster" Target="/ppt/notesMasters/notesMaster1.xml" Id="R704377adcf3e40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d08c72eab34ae3" /><Relationship Type="http://schemas.openxmlformats.org/officeDocument/2006/relationships/notesMaster" Target="/ppt/notesMasters/notesMaster1.xml" Id="R83617fb9c33d42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81372f36f84f75" /><Relationship Type="http://schemas.openxmlformats.org/officeDocument/2006/relationships/notesMaster" Target="/ppt/notesMasters/notesMaster1.xml" Id="R28d93b23de6045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566d836aab471f" /><Relationship Type="http://schemas.openxmlformats.org/officeDocument/2006/relationships/notesMaster" Target="/ppt/notesMasters/notesMaster1.xml" Id="Rd91ac6f7ece745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1f149860f448af" /><Relationship Type="http://schemas.openxmlformats.org/officeDocument/2006/relationships/notesMaster" Target="/ppt/notesMasters/notesMaster1.xml" Id="R65f04e2cc1bb4a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b04dccabbe4b95" /><Relationship Type="http://schemas.openxmlformats.org/officeDocument/2006/relationships/notesMaster" Target="/ppt/notesMasters/notesMaster1.xml" Id="R11dc8233e98649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3b38bd690b4606" /><Relationship Type="http://schemas.openxmlformats.org/officeDocument/2006/relationships/notesMaster" Target="/ppt/notesMasters/notesMaster1.xml" Id="R0c415c7f97554b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3a619027bb4199" /><Relationship Type="http://schemas.openxmlformats.org/officeDocument/2006/relationships/notesMaster" Target="/ppt/notesMasters/notesMaster1.xml" Id="R87cff27ba35f44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d55cdbb41f4289" /><Relationship Type="http://schemas.openxmlformats.org/officeDocument/2006/relationships/notesMaster" Target="/ppt/notesMasters/notesMaster1.xml" Id="R23d28c59f9764d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65466edbc8493a" /><Relationship Type="http://schemas.openxmlformats.org/officeDocument/2006/relationships/notesMaster" Target="/ppt/notesMasters/notesMaster1.xml" Id="R1c8afca326e54b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d57067de0341ac" /><Relationship Type="http://schemas.openxmlformats.org/officeDocument/2006/relationships/notesMaster" Target="/ppt/notesMasters/notesMaster1.xml" Id="Rc493c8f62bd34c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c2b60d1dc044ab" /><Relationship Type="http://schemas.openxmlformats.org/officeDocument/2006/relationships/notesMaster" Target="/ppt/notesMasters/notesMaster1.xml" Id="Rab9e77fe314043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4bcd92825243a4" /><Relationship Type="http://schemas.openxmlformats.org/officeDocument/2006/relationships/notesMaster" Target="/ppt/notesMasters/notesMaster1.xml" Id="Rf52535fce21648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design as of 18 October 2026. Capture protocol natural-2026-10-13-r3; new stimulus 2026-10-18-api-contrast-v1. Sources: CURRENT_STUDY.md; STUDY_GUIDE.md. Earlier proposal and controlled-checkpoint files are historical.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 asks whether judgments about final SQL and file-access features align with independent target-security review under two assigned work structures. It has no participant findings yet. Source: STUDY_GUIDE.md.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and scope: Barke et al. https://arxiv.org/abs/2206.15000 ; Mozannar et al. https://doi.org/10.1145/3613904.3641936 ; Perry et al. https://arxiv.org/abs/2211.03622 ; Khalid et al. https://arxiv.org/abs/2609.21020 . These motivate components, not validation of our task contrast. See REFERENCES.md.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Narrow contribution: paired assigned work-structure comparison plus temporal agent–human evidence and final-code security beliefs/outcomes. Not an AI-versus-manual comparison or a direct cognitive-state intervention. Sources: CURRENT_STUDY.md; STUDY_GUIDE.md.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Natural operational interpretation. RQ3 wording remains for supervisor freeze before main recruitment. RQ1 is the primary paired probability-accuracy contrast. Source: RQ.md; NATURAL_ANALYSIS_PLAN.md.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Card plus familiar mapped route versus card plus unfamiliar API is a compound work-structure treatment. The card is visible only to the human. Common functional and security requirements, tools, time and permissions remain equal. Cannot isolate card or mental-state effects. Source: TASK_CONTRAST_DESIGN.md; NATURAL_WORKFLOW_METHOD.md.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Counterbalance project, condition and order; audit realised allocation. The card and interface vary together within each condition. This does not establish random sampling. Source: NATURAL_WORKFLOW_METHOD.md; TASK_CONTRAST_DESIGN.md.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target: 30 completed pairs; preceding 4–6 feasibility sessions. Same provisional 30-minute cap per task, subject to pilot freeze. Researcher records approved Meet video; participants upload six evidence files per task. Source: STUDY_GUIDE.md; study-system/pilot/NATURAL_SESSION_RUNBOOK.md.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projects appear under both conditions. The exploration adapter forwards to the same SQLite/file operations and does not implant or block a vulnerability. Public criteria and independent probes target SQL injection and path traversal. Source: TASK_CONTRAST_DESIGN.md.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forced proposal, insecure exposure or keep/reject click. Researcher stores restricted Meet link separately. Final rating precedes researcher feedback and must match final snapshot hash. Source: STUDY_GUIDE.md; study-system/pilot/NATURAL_SESSION_RUNBOOK.md.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infer observed mode from assignment, speed or checking intensity. An agent-run test is distinct from developer verification. Empty event rows mean zero only after a completed coding-status record. Source: study-system/instruments/NATURAL_CODEBOOK.md; NATURAL_ANALYSIS_PLAN.md.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Review masks ratings/condition metadata, but source structure may reveal the condition; record reviewer inference. Use separate functional and target-security labels; an unimplemented feature is not secure. Probe output is evidence, not the verdict. Source: NATURAL_ANALYSIS_PLAN.md; PILOT_READINESS_AUDIT_2026-10-18.md.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recording is stored separately under approved access and is not a participant upload receipt. Synthetic portal receipts do not prove real media/transcript completeness. Missing streams stay missing, not zero behaviours. Source: CURRENT_STUDY.md; study-system/pilot/NATURAL_DATA_COVERAGE.md.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assessable complete pairs, average SQL/path Brier within each condition, then compare acceleration minus exploration within person with a participant-bootstrap interval. Thirty people yield up to 120 repeated judgments, not independent participants. Preserve absent/unassessable features and coding status. Brier is probability accuracy, not pure calibration or a trust trait. Source: NATURAL_ANALYSIS_PLAN.md; RQ_ANALYTICS_REVIEW.md.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Explicit security rules make this a security-salient setting. Interface familiarity may affect difficulty/reliance independent of mode. Source can reveal condition despite metadata masking. Verification-outcome association is observational. Source: TASK_CONTRAST_DESIGN.md; PILOT_READINESS_AUDIT_2026-10-18.md.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18 October 2026. Hosted release f83c14b-r1 served new task contrast and passed synthetic flow, but local RQ-linked analytics revision is not hosted. Previously issued packages remain frozen. No adjudicated participant outcome results. Sources: CURRENT_STUDY.md; research-portal/HOSTED_REHEARSAL_STATUS.md; PILOT_READINESS_AUDIT_2026-10-18.md.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pilot results fabricated. Four to six feasibility sessions will test condition separation, comparable difficulty, participant understanding and evidence quality; pilot data stay separate from main analysis. Source: PILOT_READINESS_AUDIT_2026-10-18.md.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P0 gates in PILOT_READINESS_AUDIT_2026-10-18.md are grouped here: real route, security assessment, approved protocol/data handling and version freeze. Hosted VM supported updates and encrypted backup/restore remain practical release checks. After 4–6 pilot sessions, revise then freeze main protocol before 30 completed participants.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 is about assigned packages, with observed interaction mode coded separately. Current contribution is the implemented and specified method; no participant findings yet. Source: CURRENT_STUDY.md.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URLs and limits: REFERENCES.md. Barke https://arxiv.org/abs/2206.15000 ; Mozannar https://doi.org/10.1145/3613904.3641936 ; Tang https://arxiv.org/abs/2405.16081 ; Lakens https://doi.org/10.1525/collabra.33267 ; Perry https://arxiv.org/abs/2211.03622 ; Khalid https://arxiv.org/abs/2609.21020 ; OWASP https://cheatsheetseries.owasp.org/cheatsheets/Secure_Code_Review_Cheat_Sheet.html ; Gneiting and Raftery https://doi.org/10.1198/016214506000001437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376a2fc7d4d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4d1eb9e5547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62080292148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aaef115ba40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6d22e82354a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5e0ba50224f9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6f002291e4b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ed7911dc24e6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4f113dbc0a49df" /><Relationship Type="http://schemas.openxmlformats.org/officeDocument/2006/relationships/slideLayout" Target="/ppt/slideLayouts/slideLayout1.xml" Id="R400cf793e4314982" /><Relationship Type="http://schemas.openxmlformats.org/officeDocument/2006/relationships/slideLayout" Target="/ppt/slideLayouts/slideLayout2.xml" Id="R56d7c8820dab43d8" /><Relationship Type="http://schemas.openxmlformats.org/officeDocument/2006/relationships/slideLayout" Target="/ppt/slideLayouts/slideLayout3.xml" Id="R1130a49d37ed44d2" /><Relationship Type="http://schemas.openxmlformats.org/officeDocument/2006/relationships/slideLayout" Target="/ppt/slideLayouts/slideLayout4.xml" Id="R5c44ef66d9aa4753" /><Relationship Type="http://schemas.openxmlformats.org/officeDocument/2006/relationships/slideLayout" Target="/ppt/slideLayouts/slideLayout5.xml" Id="R89d1f209cc0447cc" /><Relationship Type="http://schemas.openxmlformats.org/officeDocument/2006/relationships/slideLayout" Target="/ppt/slideLayouts/slideLayout6.xml" Id="R88dac087fd77440c" /><Relationship Type="http://schemas.openxmlformats.org/officeDocument/2006/relationships/slideLayout" Target="/ppt/slideLayouts/slideLayout7.xml" Id="R528353a17c6b4e59" /><Relationship Type="http://schemas.openxmlformats.org/officeDocument/2006/relationships/slideLayout" Target="/ppt/slideLayouts/slideLayout8.xml" Id="R294c34a5b9a542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0cf793e4314982"/>
    <p:sldLayoutId xmlns:r="http://schemas.openxmlformats.org/officeDocument/2006/relationships" id="2147483650" r:id="R56d7c8820dab43d8"/>
    <p:sldLayoutId xmlns:r="http://schemas.openxmlformats.org/officeDocument/2006/relationships" id="2147483651" r:id="R1130a49d37ed44d2"/>
    <p:sldLayoutId xmlns:r="http://schemas.openxmlformats.org/officeDocument/2006/relationships" id="2147483652" r:id="R5c44ef66d9aa4753"/>
    <p:sldLayoutId xmlns:r="http://schemas.openxmlformats.org/officeDocument/2006/relationships" id="2147483653" r:id="R89d1f209cc0447cc"/>
    <p:sldLayoutId xmlns:r="http://schemas.openxmlformats.org/officeDocument/2006/relationships" id="2147483654" r:id="R88dac087fd77440c"/>
    <p:sldLayoutId xmlns:r="http://schemas.openxmlformats.org/officeDocument/2006/relationships" id="2147483655" r:id="R528353a17c6b4e59"/>
    <p:sldLayoutId xmlns:r="http://schemas.openxmlformats.org/officeDocument/2006/relationships" id="2147483656" r:id="R294c34a5b9a5425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2ececb7394641" /><Relationship Type="http://schemas.openxmlformats.org/officeDocument/2006/relationships/notesSlide" Target="/ppt/notesSlides/notesSlide1.xml" Id="R186455ad980442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6b5e9a6324166" /><Relationship Type="http://schemas.openxmlformats.org/officeDocument/2006/relationships/notesSlide" Target="/ppt/notesSlides/notesSlide2.xml" Id="R8825ad86602f43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294bccfcb4977" /><Relationship Type="http://schemas.openxmlformats.org/officeDocument/2006/relationships/notesSlide" Target="/ppt/notesSlides/notesSlide3.xml" Id="R024592cda76d42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3c1a11400480c" /><Relationship Type="http://schemas.openxmlformats.org/officeDocument/2006/relationships/notesSlide" Target="/ppt/notesSlides/notesSlide4.xml" Id="R277c08e254ac42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700cff6ed41f5" /><Relationship Type="http://schemas.openxmlformats.org/officeDocument/2006/relationships/notesSlide" Target="/ppt/notesSlides/notesSlide5.xml" Id="R5f40165ead554f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461a1eb504779" /><Relationship Type="http://schemas.openxmlformats.org/officeDocument/2006/relationships/notesSlide" Target="/ppt/notesSlides/notesSlide6.xml" Id="R1cd1ee2be4cb48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4032ad0664e61" /><Relationship Type="http://schemas.openxmlformats.org/officeDocument/2006/relationships/notesSlide" Target="/ppt/notesSlides/notesSlide7.xml" Id="R7c5742234d804f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954c99355493c" /><Relationship Type="http://schemas.openxmlformats.org/officeDocument/2006/relationships/notesSlide" Target="/ppt/notesSlides/notesSlide8.xml" Id="R32d8c194891a46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373c0fc894a3c" /><Relationship Type="http://schemas.openxmlformats.org/officeDocument/2006/relationships/notesSlide" Target="/ppt/notesSlides/notesSlide9.xml" Id="R998c388b09704a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824ac367048e2" /><Relationship Type="http://schemas.openxmlformats.org/officeDocument/2006/relationships/notesSlide" Target="/ppt/notesSlides/notesSlide10.xml" Id="R746a79bb2ec144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e8e2d3d154d2c" /><Relationship Type="http://schemas.openxmlformats.org/officeDocument/2006/relationships/notesSlide" Target="/ppt/notesSlides/notesSlide11.xml" Id="Rede83950c5a846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c3c6ba7394346" /><Relationship Type="http://schemas.openxmlformats.org/officeDocument/2006/relationships/notesSlide" Target="/ppt/notesSlides/notesSlide12.xml" Id="Rec438d1a001849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8533b9f8f4ded" /><Relationship Type="http://schemas.openxmlformats.org/officeDocument/2006/relationships/notesSlide" Target="/ppt/notesSlides/notesSlide13.xml" Id="R6716ed663f4c4d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4750620a043bc" /><Relationship Type="http://schemas.openxmlformats.org/officeDocument/2006/relationships/notesSlide" Target="/ppt/notesSlides/notesSlide14.xml" Id="R524f5bd60b5a41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c7052557147b0" /><Relationship Type="http://schemas.openxmlformats.org/officeDocument/2006/relationships/notesSlide" Target="/ppt/notesSlides/notesSlide15.xml" Id="R4b61a36553ac41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8747516094b07" /><Relationship Type="http://schemas.openxmlformats.org/officeDocument/2006/relationships/notesSlide" Target="/ppt/notesSlides/notesSlide16.xml" Id="Re64dbb30cc6647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5c0b7858e4c70" /><Relationship Type="http://schemas.openxmlformats.org/officeDocument/2006/relationships/notesSlide" Target="/ppt/notesSlides/notesSlide17.xml" Id="R02ebf3c112e942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834d531524378" /><Relationship Type="http://schemas.openxmlformats.org/officeDocument/2006/relationships/notesSlide" Target="/ppt/notesSlides/notesSlide18.xml" Id="Rea62a892829649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9e440282e467e" /><Relationship Type="http://schemas.openxmlformats.org/officeDocument/2006/relationships/notesSlide" Target="/ppt/notesSlides/notesSlide19.xml" Id="Rb7e007795eb949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b8882486e4bda" /><Relationship Type="http://schemas.openxmlformats.org/officeDocument/2006/relationships/notesSlide" Target="/ppt/notesSlides/notesSlide20.xml" Id="R16d8b6c361cc46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Security judgments in</a:t>
            </a:r>
          </a:p>
          <a:p xmlns:a="http://schemas.openxmlformats.org/drawingml/2006/main">
            <a:r>
              <a:rPr sz="7200"/>
              <a:t>agent-assisted coding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Interim defense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S.P.N.P. Eshan  |  22000526  |  SCS4224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Supervisor: Dr. R.N. Rajapakse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INTERIM DEFENSE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2579914"/>
            <a:ext cx="9448800" cy="36242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Can a developer feel confident</a:t>
            </a:r>
          </a:p>
          <a:p xmlns:a="http://schemas.openxmlformats.org/drawingml/2006/main">
            <a:r>
              <a:rPr sz="7200"/>
              <a:t>while insecure code survives?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THE RESEARCH PROBLEM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AI-ASSISTED SECURITY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prior studies establish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Interaction purpose</a:t>
            </a:r>
          </a:p>
          <a:p xmlns:a="http://schemas.openxmlformats.org/drawingml/2006/main">
            <a:r>
              <a:t>Barke et al. distinguish known-step execution from approach seeking, with familiar and unfamiliar task components.</a:t>
            </a:r>
            <a:br/>
            <a:r>
              <a:t>Mozannar et al. support replay-based interpretation.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Security belief and review</a:t>
            </a:r>
          </a:p>
          <a:p xmlns:a="http://schemas.openxmlformats.org/drawingml/2006/main">
            <a:r>
              <a:t>Perry et al. compare code security with developers’ beliefs.</a:t>
            </a:r>
            <a:br/>
            <a:r>
              <a:t>Khalid et al. study evaluation, selection and edits of AI code.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gap: link belief, behaviour and final code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Observed intent</a:t>
            </a:r>
          </a:p>
          <a:p xmlns:a="http://schemas.openxmlformats.org/drawingml/2006/main">
            <a:r>
              <a:t>Code actual acceleration and exploration episodes.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Target security</a:t>
            </a:r>
          </a:p>
          <a:p xmlns:a="http://schemas.openxmlformats.org/drawingml/2006/main">
            <a:r>
              <a:t>Assess SQL injection and path traversal.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Assigned structure</a:t>
            </a:r>
          </a:p>
          <a:p xmlns:a="http://schemas.openxmlformats.org/drawingml/2006/main">
            <a:r>
              <a:t>Compare two task packages within each developer.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One linked natural trace</a:t>
            </a:r>
          </a:p>
          <a:p xmlns:a="http://schemas.openxmlformats.org/drawingml/2006/main">
            <a:r>
              <a:t>Follow prompts, agent edits, human checks, final security estimates and independently assessed submitted code in the same task.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research questions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RQ1  Judgment</a:t>
            </a:r>
          </a:p>
          <a:p xmlns:a="http://schemas.openxmlformats.org/drawingml/2006/main">
            <a:r>
              <a:t>Final-feature confidence versus assessed security.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RQ2  Final code</a:t>
            </a:r>
          </a:p>
          <a:p xmlns:a="http://schemas.openxmlformats.org/drawingml/2006/main">
            <a:r>
              <a:t>Target vulnerabilities in submitted features.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RQ3  Verification</a:t>
            </a:r>
          </a:p>
          <a:p xmlns:a="http://schemas.openxmlformats.org/drawingml/2006/main">
            <a:r>
              <a:t>Checks around observed integration of agent changes.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RQ4  Weakness class</a:t>
            </a:r>
          </a:p>
          <a:p xmlns:a="http://schemas.openxmlformats.org/drawingml/2006/main">
            <a:r>
              <a:t>Exploratory SQL injection versus path traversal.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Two assigned work structures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ACCELERATION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Familiar Node.js route and an implementation map with a known sequence.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 each step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Ask agent to execute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Check freely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EXPLORATION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Small unfamiliar record/document interface with operations but no plan.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Understand interface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approaches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Check freely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One participant completes both conditions</a:t>
            </a:r>
          </a:p>
          <a:p xmlns:a="http://schemas.openxmlformats.org/drawingml/2006/main">
            <a:r>
              <a:t>The condition combines a human orientation card with an implementation interface. Observed interaction mode is coded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Project and order balance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2</a:t>
            </a:r>
          </a:p>
          <a:p xmlns:a="http://schemas.openxmlformats.org/drawingml/2006/main">
            <a:r>
              <a:t>A + exploration first</a:t>
            </a:r>
            <a:br/>
            <a:r>
              <a:t>B + acceleration second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1</a:t>
            </a:r>
          </a:p>
          <a:p xmlns:a="http://schemas.openxmlformats.org/drawingml/2006/main">
            <a:r>
              <a:t>A + acceleration first</a:t>
            </a:r>
            <a:br/>
            <a:r>
              <a:t>B + exploration second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4</a:t>
            </a:r>
          </a:p>
          <a:p xmlns:a="http://schemas.openxmlformats.org/drawingml/2006/main">
            <a:r>
              <a:t>B + exploration first</a:t>
            </a:r>
            <a:br/>
            <a:r>
              <a:t>A + acceleration second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3</a:t>
            </a:r>
          </a:p>
          <a:p xmlns:a="http://schemas.openxmlformats.org/drawingml/2006/main">
            <a:r>
              <a:t>B + acceleration first</a:t>
            </a:r>
            <a:br/>
            <a:r>
              <a:t>A + exploration second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Four assigned sequences</a:t>
            </a:r>
          </a:p>
          <a:p xmlns:a="http://schemas.openxmlformats.org/drawingml/2006/main">
            <a:r>
              <a:t>Each developer does one Resource Catalogue and one Support Archive task. Both projects can occur in either condition and position.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session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3AFFB2D9-EECE-45B8-ADF5-6BAB13AB318F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END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Two free coding tasks</a:t>
            </a:r>
          </a:p>
          <a:p xmlns:a="http://schemas.openxmlformats.org/drawingml/2006/main">
            <a:r>
              <a:t>Use fresh projects and agent conversations. Capture work; rate each final feature.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Consent and practice</a:t>
            </a:r>
          </a:p>
          <a:p xmlns:a="http://schemas.openxmlformats.org/drawingml/2006/main">
            <a:r>
              <a:t>Screen eligibility, record background, then practise on an unrelated task.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Replay interview</a:t>
            </a:r>
          </a:p>
          <a:p xmlns:a="http://schemas.openxmlformats.org/drawingml/2006/main">
            <a:r>
              <a:t>Discuss fixed real moments before hidden security feedback.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Same security targets, different route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b="1"/>
              <a:t>Project A</a:t>
            </a:r>
          </a:p>
          <a:p xmlns:a="http://schemas.openxmlformats.org/drawingml/2006/main">
            <a:r>
              <a:t>Resource catalogue</a:t>
            </a:r>
            <a:br/>
            <a:r>
              <a:t>Exact SQL filter and a file read confined to one folder.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Work structure</a:t>
            </a:r>
          </a:p>
          <a:p xmlns:a="http://schemas.openxmlformats.org/drawingml/2006/main">
            <a:r>
              <a:t>Acceleration uses ordinary APIs and a map; exploration uses a thin unfamiliar interface.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Project B</a:t>
            </a:r>
          </a:p>
          <a:p xmlns:a="http://schemas.openxmlformats.org/drawingml/2006/main">
            <a:r>
              <a:t>Support archive</a:t>
            </a:r>
            <a:br/>
            <a:r>
              <a:t>The same two feature and security requirements in a parallel repo.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Natural task: from prompt to final evidence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5 · Freeze</a:t>
            </a:r>
          </a:p>
          <a:p xmlns:a="http://schemas.openxmlformats.org/drawingml/2006/main">
            <a:r>
              <a:t>Save exact final code and hash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6 · Rate</a:t>
            </a:r>
          </a:p>
          <a:p xmlns:a="http://schemas.openxmlformats.org/drawingml/2006/main">
            <a:r>
              <a:t>Estimate SQL and path security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7 · Transfer</a:t>
            </a:r>
          </a:p>
          <a:p xmlns:a="http://schemas.openxmlformats.org/drawingml/2006/main">
            <a:r>
              <a:t>Upload six files and answer task form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8 · Replay</a:t>
            </a:r>
          </a:p>
          <a:p xmlns:a="http://schemas.openxmlformats.org/drawingml/2006/main">
            <a:r>
              <a:t>Discuss selected real moments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1 · Portal</a:t>
            </a:r>
          </a:p>
          <a:p xmlns:a="http://schemas.openxmlformats.org/drawingml/2006/main">
            <a:r>
              <a:t>Read human-only orientation card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2 · Workspace</a:t>
            </a:r>
          </a:p>
          <a:p xmlns:a="http://schemas.openxmlformats.org/drawingml/2006/main">
            <a:r>
              <a:t>Open fresh task and agent conversation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3 · Record</a:t>
            </a:r>
          </a:p>
          <a:p xmlns:a="http://schemas.openxmlformats.org/drawingml/2006/main">
            <a:r>
              <a:t>Start Meet, observer and code watcher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4 · Code</a:t>
            </a:r>
          </a:p>
          <a:p xmlns:a="http://schemas.openxmlformats.org/drawingml/2006/main">
            <a:r>
              <a:t>Prompt, inspect, test, edit or reject freely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Assignment, intent and action are different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Observed mode</a:t>
            </a:r>
          </a:p>
          <a:p xmlns:a="http://schemas.openxmlformats.org/drawingml/2006/main">
            <a:r>
              <a:t>Intent may be acceleration, exploration, mixed or unclear.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Human checks</a:t>
            </a:r>
          </a:p>
          <a:p xmlns:a="http://schemas.openxmlformats.org/drawingml/2006/main">
            <a:r>
              <a:t>Count security checks only when results were reviewed.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Assigned condition</a:t>
            </a:r>
          </a:p>
          <a:p xmlns:a="http://schemas.openxmlformats.org/drawingml/2006/main">
            <a:r>
              <a:t>Card and interface define the comparison.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An agent edit is not human acceptance</a:t>
            </a:r>
          </a:p>
          <a:p xmlns:a="http://schemas.openxmlformats.org/drawingml/2006/main">
            <a:r>
              <a:t>Code intent from prompts and replay. Record application, inspection, continuation, endorsement, repair and final survival as separate events.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Assess the exact final submission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Function and target security</a:t>
            </a:r>
          </a:p>
          <a:p xmlns:a="http://schemas.openxmlformats.org/drawingml/2006/main">
            <a:r>
              <a:t>Run functional and bounded SQL/path attack probes in an isolated environment; two reviewers inspect metadata-masked final code.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Conditional exposure history</a:t>
            </a:r>
          </a:p>
          <a:p xmlns:a="http://schemas.openxmlformats.org/drawingml/2006/main">
            <a:r>
              <a:t>Trace agent-origin vulnerable changes only when confirmed in code and recordings. No exposure means survival is not estimable.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Evidence linked by task and final hash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Connect the final belief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to the exact final code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Portal assignment and forms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portal links assignment, task files, forms and six uploads. The final manifest and SQL/path ratings share a hash. Agent records, code snapshots and a restricted Meet recording support event coding. Independent review labels final security.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Code history and final snapshot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Scoped agent conversation record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Researcher Meet recording link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Replay and independent review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the four RQs will be evaluated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RQ1  Judgment</a:t>
            </a:r>
          </a:p>
          <a:p xmlns:a="http://schemas.openxmlformats.org/drawingml/2006/main">
            <a:r>
              <a:t>Participant-paired Brier difference; confidence by security label.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RQ2  Final security</a:t>
            </a:r>
          </a:p>
          <a:p xmlns:a="http://schemas.openxmlformats.org/drawingml/2006/main">
            <a:r>
              <a:t>All feature outcomes and paired vulnerable counts; exposure flow separately.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RQ3  Checks</a:t>
            </a:r>
          </a:p>
          <a:p xmlns:a="http://schemas.openxmlformats.org/drawingml/2006/main">
            <a:r>
              <a:t>Coded before/after checks, continuation and repair; replay cases.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RQ4  Class</a:t>
            </a:r>
          </a:p>
          <a:p xmlns:a="http://schemas.openxmlformats.org/drawingml/2006/main">
            <a:r>
              <a:t>SQL and path counts with uncertainty; exploratory.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Validity checks before interpreting a contrast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Code intent independently; retain mixed and unclear time.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MODE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completion, time, difficulty and carryover.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TASK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Verify real prompt, video, code and hash linkage.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CAPTURE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probes and masked reviewer agreement.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REVIEW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 condition difference has rival explanations</a:t>
            </a:r>
          </a:p>
          <a:p xmlns:a="http://schemas.openxmlformats.org/drawingml/2006/main">
            <a:r>
              <a:t>The card and interface change together. Pilot mode separation and difficulty alongside evidence quality and final-code assessment.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progress: built, not yet validated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Parallel JavaScript projects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Adjudicated participant findings reported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Balanced project-condition-order sequences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Engineering evidence, not participant findings</a:t>
            </a:r>
          </a:p>
          <a:p xmlns:a="http://schemas.openxmlformats.org/drawingml/2006/main">
            <a:r>
              <a:t>Hosted synthetic delivery, two-task upload and retrieval passed. New packages are served to fresh accounts. Real capture and code-review rehearsal remain gates.</a:t>
            </a:r>
          </a:p>
        </p:txBody>
      </p:sp>
      <p:sp>
        <p:nvSpPr>
          <p:cNvPr id="16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00EC5BE-2B4D-939D-B2BC-321F895D023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evidence: reserved for human sessions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E357456D-D334-49AD-B406-7E90E9685DD5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Feasibility</a:t>
            </a:r>
          </a:p>
          <a:p xmlns:a="http://schemas.openxmlformats.org/drawingml/2006/main">
            <a:r>
              <a:t>Pending: completion, active time, difficulty and burden by condition.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Manipulation</a:t>
            </a:r>
          </a:p>
          <a:p xmlns:a="http://schemas.openxmlformats.org/drawingml/2006/main">
            <a:r>
              <a:t>Pending: coded intent episodes, mixed time and order effects.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Measurement</a:t>
            </a:r>
          </a:p>
          <a:p xmlns:a="http://schemas.openxmlformats.org/drawingml/2006/main">
            <a:r>
              <a:t>Pending: real capture, review agreement and rating comprehension.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PENDING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PENDING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PENDING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research gates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3AFFB2D9-EECE-45B8-ADF5-6BAB13AB318F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3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Security and data</a:t>
            </a:r>
          </a:p>
          <a:p xmlns:a="http://schemas.openxmlformats.org/drawingml/2006/main">
            <a:r>
              <a:t>Test reference cases and two reviews; confirm consent, storage and restore.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Real evidence route</a:t>
            </a:r>
          </a:p>
          <a:p xmlns:a="http://schemas.openxmlformats.org/drawingml/2006/main">
            <a:r>
              <a:t>Rehearse both tasks on intended hosts; verify capture, upload and playback.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Pilot to main</a:t>
            </a:r>
          </a:p>
          <a:p xmlns:a="http://schemas.openxmlformats.org/drawingml/2006/main">
            <a:r>
              <a:t>Freeze kit; run 4–6 pilots. Revise, then recruit 30 pairs.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From belief</a:t>
            </a:r>
          </a:p>
          <a:p xmlns:a="http://schemas.openxmlformats.org/drawingml/2006/main">
            <a:r>
              <a:rPr sz="7200"/>
              <a:t>to final code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Two assigned work structures. Freely edited agent code. Final security judgments linked to reviewed submissions.</a:t>
            </a:r>
          </a:p>
          <a:p xmlns:a="http://schemas.openxmlformats.org/drawingml/2006/main">
            <a:r>
              <a:rPr sz="2000"/>
              <a:t>Pilot evidence comes next.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Selected references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Interaction and observation</a:t>
            </a:r>
          </a:p>
          <a:p xmlns:a="http://schemas.openxmlformats.org/drawingml/2006/main">
            <a:r>
              <a:t>Barke et al. (2022), Grounded Copilot</a:t>
            </a:r>
            <a:br/>
            <a:r>
              <a:t>Mozannar et al. (2024), Activity replay</a:t>
            </a:r>
            <a:br/>
            <a:r>
              <a:t>Tang et al. (2024), Validation and repair</a:t>
            </a:r>
            <a:br/>
            <a:r>
              <a:t>Lakens (2022), Sample justification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Security and evaluation</a:t>
            </a:r>
          </a:p>
          <a:p xmlns:a="http://schemas.openxmlformats.org/drawingml/2006/main">
            <a:r>
              <a:t>Perry et al. (2022), AI-assisted security</a:t>
            </a:r>
            <a:br/>
            <a:r>
              <a:t>Khalid et al. (2026), Insecure suggestions</a:t>
            </a:r>
            <a:br/>
            <a:r>
              <a:t>OWASP, Secure Code Review</a:t>
            </a:r>
            <a:br/>
            <a:r>
              <a:t>Gneiting &amp; Raftery (2007), Probability scoring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2026-10-18T17:39:55.5020000Z</dcterms:created>
  <dcterms:modified xsi:type="dcterms:W3CDTF">2026-10-18T17:39:55.5020000Z</dcterms:modified>
</coreProperties>
</file>