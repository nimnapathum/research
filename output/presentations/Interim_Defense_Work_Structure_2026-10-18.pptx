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81f3556cc4423" /><Relationship Type="http://schemas.openxmlformats.org/officeDocument/2006/relationships/extended-properties" Target="/docProps/app.xml" Id="R917db53ad8404058" /><Relationship Type="http://schemas.openxmlformats.org/officeDocument/2006/relationships/officeDocument" Target="/ppt/presentation.xml" Id="Rcc0c4307413a4da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a599262c43c4092"/>
  </p:sldMasterIdLst>
  <p:notesMasterIdLst>
    <p:notesMasterId xmlns:r="http://schemas.openxmlformats.org/officeDocument/2006/relationships" r:id="R4f3227474e424e9a"/>
  </p:notesMasterIdLst>
  <p:sldIdLst>
    <p:sldId xmlns:r="http://schemas.openxmlformats.org/officeDocument/2006/relationships" id="256" r:id="Re2b22c9687254a74"/>
    <p:sldId xmlns:r="http://schemas.openxmlformats.org/officeDocument/2006/relationships" id="257" r:id="R28faaf0001764aea"/>
    <p:sldId xmlns:r="http://schemas.openxmlformats.org/officeDocument/2006/relationships" id="258" r:id="R92259fcf43c341dd"/>
    <p:sldId xmlns:r="http://schemas.openxmlformats.org/officeDocument/2006/relationships" id="259" r:id="R18a007438b654400"/>
    <p:sldId xmlns:r="http://schemas.openxmlformats.org/officeDocument/2006/relationships" id="260" r:id="R2c2e8ccb0cec4f59"/>
    <p:sldId xmlns:r="http://schemas.openxmlformats.org/officeDocument/2006/relationships" id="261" r:id="Rb472cf5f068e4ce7"/>
    <p:sldId xmlns:r="http://schemas.openxmlformats.org/officeDocument/2006/relationships" id="262" r:id="R6c951cbb78ae4526"/>
    <p:sldId xmlns:r="http://schemas.openxmlformats.org/officeDocument/2006/relationships" id="263" r:id="Rb04fb18869394a57"/>
    <p:sldId xmlns:r="http://schemas.openxmlformats.org/officeDocument/2006/relationships" id="264" r:id="Rfcb1f15235a54d0d"/>
    <p:sldId xmlns:r="http://schemas.openxmlformats.org/officeDocument/2006/relationships" id="265" r:id="R170b10f192e74a4d"/>
    <p:sldId xmlns:r="http://schemas.openxmlformats.org/officeDocument/2006/relationships" id="266" r:id="R939dcdf3fb084271"/>
    <p:sldId xmlns:r="http://schemas.openxmlformats.org/officeDocument/2006/relationships" id="267" r:id="Rd3bfd0b1006646b5"/>
    <p:sldId xmlns:r="http://schemas.openxmlformats.org/officeDocument/2006/relationships" id="268" r:id="R653cdbd4a3fe425f"/>
    <p:sldId xmlns:r="http://schemas.openxmlformats.org/officeDocument/2006/relationships" id="269" r:id="R76856e129cb34f7b"/>
    <p:sldId xmlns:r="http://schemas.openxmlformats.org/officeDocument/2006/relationships" id="270" r:id="R6c8316f1bec14cd8"/>
    <p:sldId xmlns:r="http://schemas.openxmlformats.org/officeDocument/2006/relationships" id="271" r:id="Rfd037c9d5eec482b"/>
    <p:sldId xmlns:r="http://schemas.openxmlformats.org/officeDocument/2006/relationships" id="272" r:id="R35f42e43c58e4480"/>
    <p:sldId xmlns:r="http://schemas.openxmlformats.org/officeDocument/2006/relationships" id="273" r:id="R30f0c6e285e84287"/>
    <p:sldId xmlns:r="http://schemas.openxmlformats.org/officeDocument/2006/relationships" id="274" r:id="R34d51aec70e741f9"/>
    <p:sldId xmlns:r="http://schemas.openxmlformats.org/officeDocument/2006/relationships" id="275" r:id="R920f0f42b880456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f9e36b969064123"/>
      <p:bold xmlns:r="http://schemas.openxmlformats.org/officeDocument/2006/relationships" r:id="Rfd530e2f702e436f"/>
      <p:italic xmlns:r="http://schemas.openxmlformats.org/officeDocument/2006/relationships" r:id="R49704d74220a4232"/>
      <p:boldItalic xmlns:r="http://schemas.openxmlformats.org/officeDocument/2006/relationships" r:id="Ra4011afdda554523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3e2f3698744507" /><Relationship Type="http://schemas.openxmlformats.org/officeDocument/2006/relationships/slideMaster" Target="/ppt/slideMasters/slideMaster1.xml" Id="R6a599262c43c4092" /><Relationship Type="http://schemas.openxmlformats.org/officeDocument/2006/relationships/notesMaster" Target="/ppt/notesMasters/notesMaster1.xml" Id="R4f3227474e424e9a" /><Relationship Type="http://schemas.openxmlformats.org/officeDocument/2006/relationships/presProps" Target="/ppt/presProps.xml" Id="R23e51390ced1430f" /><Relationship Type="http://schemas.openxmlformats.org/officeDocument/2006/relationships/viewProps" Target="/ppt/viewProps.xml" Id="Rcd895fd4e25a42ee" /><Relationship Type="http://schemas.openxmlformats.org/officeDocument/2006/relationships/tableStyles" Target="/ppt/tableStyles.xml" Id="R67ab6607208f4c1b" /><Relationship Type="http://schemas.openxmlformats.org/officeDocument/2006/relationships/font" Target="/ppt/fonts/font.dat" Id="R8f9e36b969064123" /><Relationship Type="http://schemas.openxmlformats.org/officeDocument/2006/relationships/font" Target="/ppt/fonts/font2.dat" Id="Rfd530e2f702e436f" /><Relationship Type="http://schemas.openxmlformats.org/officeDocument/2006/relationships/font" Target="/ppt/fonts/font3.dat" Id="R49704d74220a4232" /><Relationship Type="http://schemas.openxmlformats.org/officeDocument/2006/relationships/font" Target="/ppt/fonts/font4.dat" Id="Ra4011afdda554523" /><Relationship Type="http://schemas.openxmlformats.org/officeDocument/2006/relationships/slide" Target="/ppt/slides/slide1.xml" Id="Re2b22c9687254a74" /><Relationship Type="http://schemas.openxmlformats.org/officeDocument/2006/relationships/slide" Target="/ppt/slides/slide2.xml" Id="R28faaf0001764aea" /><Relationship Type="http://schemas.openxmlformats.org/officeDocument/2006/relationships/slide" Target="/ppt/slides/slide3.xml" Id="R92259fcf43c341dd" /><Relationship Type="http://schemas.openxmlformats.org/officeDocument/2006/relationships/slide" Target="/ppt/slides/slide4.xml" Id="R18a007438b654400" /><Relationship Type="http://schemas.openxmlformats.org/officeDocument/2006/relationships/slide" Target="/ppt/slides/slide5.xml" Id="R2c2e8ccb0cec4f59" /><Relationship Type="http://schemas.openxmlformats.org/officeDocument/2006/relationships/slide" Target="/ppt/slides/slide6.xml" Id="Rb472cf5f068e4ce7" /><Relationship Type="http://schemas.openxmlformats.org/officeDocument/2006/relationships/slide" Target="/ppt/slides/slide7.xml" Id="R6c951cbb78ae4526" /><Relationship Type="http://schemas.openxmlformats.org/officeDocument/2006/relationships/slide" Target="/ppt/slides/slide8.xml" Id="Rb04fb18869394a57" /><Relationship Type="http://schemas.openxmlformats.org/officeDocument/2006/relationships/slide" Target="/ppt/slides/slide9.xml" Id="Rfcb1f15235a54d0d" /><Relationship Type="http://schemas.openxmlformats.org/officeDocument/2006/relationships/slide" Target="/ppt/slides/slide10.xml" Id="R170b10f192e74a4d" /><Relationship Type="http://schemas.openxmlformats.org/officeDocument/2006/relationships/slide" Target="/ppt/slides/slide11.xml" Id="R939dcdf3fb084271" /><Relationship Type="http://schemas.openxmlformats.org/officeDocument/2006/relationships/slide" Target="/ppt/slides/slide12.xml" Id="Rd3bfd0b1006646b5" /><Relationship Type="http://schemas.openxmlformats.org/officeDocument/2006/relationships/slide" Target="/ppt/slides/slide13.xml" Id="R653cdbd4a3fe425f" /><Relationship Type="http://schemas.openxmlformats.org/officeDocument/2006/relationships/slide" Target="/ppt/slides/slide14.xml" Id="R76856e129cb34f7b" /><Relationship Type="http://schemas.openxmlformats.org/officeDocument/2006/relationships/slide" Target="/ppt/slides/slide15.xml" Id="R6c8316f1bec14cd8" /><Relationship Type="http://schemas.openxmlformats.org/officeDocument/2006/relationships/slide" Target="/ppt/slides/slide16.xml" Id="Rfd037c9d5eec482b" /><Relationship Type="http://schemas.openxmlformats.org/officeDocument/2006/relationships/slide" Target="/ppt/slides/slide17.xml" Id="R35f42e43c58e4480" /><Relationship Type="http://schemas.openxmlformats.org/officeDocument/2006/relationships/slide" Target="/ppt/slides/slide18.xml" Id="R30f0c6e285e84287" /><Relationship Type="http://schemas.openxmlformats.org/officeDocument/2006/relationships/slide" Target="/ppt/slides/slide19.xml" Id="R34d51aec70e741f9" /><Relationship Type="http://schemas.openxmlformats.org/officeDocument/2006/relationships/slide" Target="/ppt/slides/slide20.xml" Id="R920f0f42b880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2fa75ce7141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175b0583764b65" /><Relationship Type="http://schemas.openxmlformats.org/officeDocument/2006/relationships/notesMaster" Target="/ppt/notesMasters/notesMaster1.xml" Id="R0527c5eee7c5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d72b3edab428e" /><Relationship Type="http://schemas.openxmlformats.org/officeDocument/2006/relationships/notesMaster" Target="/ppt/notesMasters/notesMaster1.xml" Id="R6dd3859ad2a9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ecea9125b4c82" /><Relationship Type="http://schemas.openxmlformats.org/officeDocument/2006/relationships/notesMaster" Target="/ppt/notesMasters/notesMaster1.xml" Id="R0a9e2bc95862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0e45a89f54f00" /><Relationship Type="http://schemas.openxmlformats.org/officeDocument/2006/relationships/notesMaster" Target="/ppt/notesMasters/notesMaster1.xml" Id="R788b0d9a6ccf4c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ca871bd964149" /><Relationship Type="http://schemas.openxmlformats.org/officeDocument/2006/relationships/notesMaster" Target="/ppt/notesMasters/notesMaster1.xml" Id="R24d8552417dc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c44afec9de4c29" /><Relationship Type="http://schemas.openxmlformats.org/officeDocument/2006/relationships/notesMaster" Target="/ppt/notesMasters/notesMaster1.xml" Id="R70a83863b61e43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932efdc91149b8" /><Relationship Type="http://schemas.openxmlformats.org/officeDocument/2006/relationships/notesMaster" Target="/ppt/notesMasters/notesMaster1.xml" Id="R7249805973d84d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b988602314c9b" /><Relationship Type="http://schemas.openxmlformats.org/officeDocument/2006/relationships/notesMaster" Target="/ppt/notesMasters/notesMaster1.xml" Id="Rcf7d8f3f400d47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b1d8f6c3294e5d" /><Relationship Type="http://schemas.openxmlformats.org/officeDocument/2006/relationships/notesMaster" Target="/ppt/notesMasters/notesMaster1.xml" Id="R80ce3bea5a654a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c4d0daae7144fa" /><Relationship Type="http://schemas.openxmlformats.org/officeDocument/2006/relationships/notesMaster" Target="/ppt/notesMasters/notesMaster1.xml" Id="Rd5868f8cb56a42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5987d410a74d25" /><Relationship Type="http://schemas.openxmlformats.org/officeDocument/2006/relationships/notesMaster" Target="/ppt/notesMasters/notesMaster1.xml" Id="Rabf36d02493547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04ad94e8de4232" /><Relationship Type="http://schemas.openxmlformats.org/officeDocument/2006/relationships/notesMaster" Target="/ppt/notesMasters/notesMaster1.xml" Id="R94c35d69115643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a8d7d39cdd4e22" /><Relationship Type="http://schemas.openxmlformats.org/officeDocument/2006/relationships/notesMaster" Target="/ppt/notesMasters/notesMaster1.xml" Id="Ra168da46c04240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bc3477fcb4589" /><Relationship Type="http://schemas.openxmlformats.org/officeDocument/2006/relationships/notesMaster" Target="/ppt/notesMasters/notesMaster1.xml" Id="R71fa7b0d1adc4a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c18131658c4612" /><Relationship Type="http://schemas.openxmlformats.org/officeDocument/2006/relationships/notesMaster" Target="/ppt/notesMasters/notesMaster1.xml" Id="Rfac0f10675114d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0d10b3cafc40f8" /><Relationship Type="http://schemas.openxmlformats.org/officeDocument/2006/relationships/notesMaster" Target="/ppt/notesMasters/notesMaster1.xml" Id="R118d9d0bd6584a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cf2cf78dd34250" /><Relationship Type="http://schemas.openxmlformats.org/officeDocument/2006/relationships/notesMaster" Target="/ppt/notesMasters/notesMaster1.xml" Id="Rde57c7e1be294c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724c704a534696" /><Relationship Type="http://schemas.openxmlformats.org/officeDocument/2006/relationships/notesMaster" Target="/ppt/notesMasters/notesMaster1.xml" Id="R93750fc121c047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c7148070c84993" /><Relationship Type="http://schemas.openxmlformats.org/officeDocument/2006/relationships/notesMaster" Target="/ppt/notesMasters/notesMaster1.xml" Id="R15295ed9b6a3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957e979f6046f8" /><Relationship Type="http://schemas.openxmlformats.org/officeDocument/2006/relationships/notesMaster" Target="/ppt/notesMasters/notesMaster1.xml" Id="Ra8d4079731c0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design as of 18 October 2026. Capture protocol natural-2026-10-13-r3; new stimulus 2026-10-18-api-contrast-v1. Sources: CURRENT_STUDY.md; STUDY_GUIDE.md. Earlier proposal and controlled-checkpoint files are historical.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 asks whether judgments about final SQL and file-access features align with independent target-security review under two assigned work structures. It has no participant findings yet. Source: STUDY_GUIDE.md.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and scope: Barke et al. https://arxiv.org/abs/2206.15000 ; Mozannar et al. https://doi.org/10.1145/3613904.3641936 ; Perry et al. https://arxiv.org/abs/2211.03622 ; Khalid et al. https://arxiv.org/abs/2609.21020 . These motivate components, not validation of our task contrast. See REFERENCES.md.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Narrow contribution: paired assigned work-structure comparison plus temporal agent–human evidence and final-code security beliefs/outcomes. Not an AI-versus-manual comparison or a direct cognitive-state intervention. Sources: CURRENT_STUDY.md; STUDY_GUIDE.md.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operational interpretation. RQ3 wording remains for supervisor freeze before main recruitment. RQ1 is the primary paired probability-accuracy contrast. Source: RQ.md; NATURAL_ANALYSIS_PLAN.md.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Card plus familiar mapped route versus card plus unfamiliar API is a compound work-structure treatment. The card is visible only to the human. Common functional and security requirements, tools, time and permissions remain equal. Cannot isolate card or mental-state effects. Source: TASK_CONTRAST_DESIGN.md; NATURAL_WORKFLOW_METHOD.md.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Counterbalance project, condition and order; audit realised allocation. The card and interface vary together within each condition. This does not establish random sampling. Source: NATURAL_WORKFLOW_METHOD.md; TASK_CONTRAST_DESIGN.md.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target: 30 completed pairs; preceding 4–6 feasibility sessions. Same provisional 30-minute cap per task, subject to pilot freeze. Researcher records approved Meet video; participants upload six evidence files per task. Source: STUDY_GUIDE.md; study-system/pilot/NATURAL_SESSION_RUNBOOK.md.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projects appear under both conditions. The exploration adapter forwards to the same SQLite/file operations and does not implant or block a vulnerability. Public criteria and independent probes target SQL injection and path traversal. Source: TASK_CONTRAST_DESIGN.md.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forced proposal, insecure exposure or keep/reject click. Researcher stores restricted Meet link separately. Final rating precedes researcher feedback and must match final snapshot hash. Source: STUDY_GUIDE.md; study-system/pilot/NATURAL_SESSION_RUNBOOK.md.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infer observed mode from assignment, speed or checking intensity. An agent-run test is distinct from developer verification. Empty event rows mean zero only after a completed coding-status record. Source: study-system/instruments/NATURAL_CODEBOOK.md; NATURAL_ANALYSIS_PLAN.md.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Review masks ratings/condition metadata, but source structure may reveal the condition; record reviewer inference. Use separate functional and target-security labels; an unimplemented feature is not secure. Probe output is evidence, not the verdict. Source: NATURAL_ANALYSIS_PLAN.md; PILOT_READINESS_AUDIT_2026-10-18.md.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recording is stored separately under approved access and is not a participant upload receipt. Synthetic portal receipts do not prove real media/transcript completeness. Missing streams stay missing, not zero behaviours. Source: CURRENT_STUDY.md; study-system/pilot/NATURAL_DATA_COVERAGE.md.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assessable complete pairs, average SQL/path Brier within each condition, then compare acceleration minus exploration within person with a participant-bootstrap interval. Thirty people yield up to 120 repeated judgments, not independent participants. Preserve absent/unassessable features and coding status. Brier is probability accuracy, not pure calibration or a trust trait. Source: NATURAL_ANALYSIS_PLAN.md; RQ_ANALYTICS_REVIEW.md.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Explicit security rules make this a security-salient setting. Interface familiarity may affect difficulty/reliance independent of mode. Source can reveal condition despite metadata masking. Verification-outcome association is observational. Source: TASK_CONTRAST_DESIGN.md; PILOT_READINESS_AUDIT_2026-10-18.md.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18 October 2026. Hosted release f83c14b-r1 served new task contrast and passed synthetic flow, but local RQ-linked analytics revision is not hosted. Previously issued packages remain frozen. No adjudicated participant outcome results. Sources: CURRENT_STUDY.md; research-portal/HOSTED_REHEARSAL_STATUS.md; PILOT_READINESS_AUDIT_2026-10-18.md.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pilot results fabricated. Four to six feasibility sessions will test condition separation, comparable difficulty, participant understanding and evidence quality; pilot data stay separate from main analysis. Source: PILOT_READINESS_AUDIT_2026-10-18.md.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P0 gates in PILOT_READINESS_AUDIT_2026-10-18.md are grouped here: real route, security assessment, approved protocol/data handling and version freeze. Hosted VM supported updates and encrypted backup/restore remain practical release checks. After 4–6 pilot sessions, revise then freeze main protocol before 30 completed participants.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 is about assigned packages, with observed interaction mode coded separately. Current contribution is the implemented and specified method; no participant findings yet. Source: CURRENT_STUDY.md.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URLs and limits: REFERENCES.md. Barke https://arxiv.org/abs/2206.15000 ; Mozannar https://doi.org/10.1145/3613904.3641936 ; Tang https://arxiv.org/abs/2405.16081 ; Lakens https://doi.org/10.1525/collabra.33267 ; Perry https://arxiv.org/abs/2211.03622 ; Khalid https://arxiv.org/abs/2609.21020 ; OWASP https://cheatsheetseries.owasp.org/cheatsheets/Secure_Code_Review_Cheat_Sheet.html ; Gneiting and Raftery https://doi.org/10.1198/016214506000001437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55319aee943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922034c2045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d398166d44a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46812e98d41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f42491dfd48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150d1e4254d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06bcb643b43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f88ed4641413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e6e3a38de4fb3" /><Relationship Type="http://schemas.openxmlformats.org/officeDocument/2006/relationships/slideLayout" Target="/ppt/slideLayouts/slideLayout1.xml" Id="R18cade4ee2da4b3e" /><Relationship Type="http://schemas.openxmlformats.org/officeDocument/2006/relationships/slideLayout" Target="/ppt/slideLayouts/slideLayout2.xml" Id="Ra1c53990a02a4869" /><Relationship Type="http://schemas.openxmlformats.org/officeDocument/2006/relationships/slideLayout" Target="/ppt/slideLayouts/slideLayout3.xml" Id="Read4a8b4e3144b4f" /><Relationship Type="http://schemas.openxmlformats.org/officeDocument/2006/relationships/slideLayout" Target="/ppt/slideLayouts/slideLayout4.xml" Id="R7fa88fcd5a944a81" /><Relationship Type="http://schemas.openxmlformats.org/officeDocument/2006/relationships/slideLayout" Target="/ppt/slideLayouts/slideLayout5.xml" Id="R8f93efa4a9254b0a" /><Relationship Type="http://schemas.openxmlformats.org/officeDocument/2006/relationships/slideLayout" Target="/ppt/slideLayouts/slideLayout6.xml" Id="R23d3a97d7d8f460c" /><Relationship Type="http://schemas.openxmlformats.org/officeDocument/2006/relationships/slideLayout" Target="/ppt/slideLayouts/slideLayout7.xml" Id="Rbd947951fa134201" /><Relationship Type="http://schemas.openxmlformats.org/officeDocument/2006/relationships/slideLayout" Target="/ppt/slideLayouts/slideLayout8.xml" Id="R35e1d0b2d29f4b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ade4ee2da4b3e"/>
    <p:sldLayoutId xmlns:r="http://schemas.openxmlformats.org/officeDocument/2006/relationships" id="2147483650" r:id="Ra1c53990a02a4869"/>
    <p:sldLayoutId xmlns:r="http://schemas.openxmlformats.org/officeDocument/2006/relationships" id="2147483651" r:id="Read4a8b4e3144b4f"/>
    <p:sldLayoutId xmlns:r="http://schemas.openxmlformats.org/officeDocument/2006/relationships" id="2147483652" r:id="R7fa88fcd5a944a81"/>
    <p:sldLayoutId xmlns:r="http://schemas.openxmlformats.org/officeDocument/2006/relationships" id="2147483653" r:id="R8f93efa4a9254b0a"/>
    <p:sldLayoutId xmlns:r="http://schemas.openxmlformats.org/officeDocument/2006/relationships" id="2147483654" r:id="R23d3a97d7d8f460c"/>
    <p:sldLayoutId xmlns:r="http://schemas.openxmlformats.org/officeDocument/2006/relationships" id="2147483655" r:id="Rbd947951fa134201"/>
    <p:sldLayoutId xmlns:r="http://schemas.openxmlformats.org/officeDocument/2006/relationships" id="2147483656" r:id="R35e1d0b2d29f4bd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af83dafd94846" /><Relationship Type="http://schemas.openxmlformats.org/officeDocument/2006/relationships/notesSlide" Target="/ppt/notesSlides/notesSlide1.xml" Id="R3eae566c9765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997f72ac4802" /><Relationship Type="http://schemas.openxmlformats.org/officeDocument/2006/relationships/notesSlide" Target="/ppt/notesSlides/notesSlide2.xml" Id="Rf7716a5580ec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79d7d2e574ffc" /><Relationship Type="http://schemas.openxmlformats.org/officeDocument/2006/relationships/notesSlide" Target="/ppt/notesSlides/notesSlide3.xml" Id="Rd5eb27d929524a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afe0171ff42bb" /><Relationship Type="http://schemas.openxmlformats.org/officeDocument/2006/relationships/notesSlide" Target="/ppt/notesSlides/notesSlide4.xml" Id="R90470e3850c24b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ad17f8ab642cc" /><Relationship Type="http://schemas.openxmlformats.org/officeDocument/2006/relationships/notesSlide" Target="/ppt/notesSlides/notesSlide5.xml" Id="R3a98cc59df00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b65a5b87e470f" /><Relationship Type="http://schemas.openxmlformats.org/officeDocument/2006/relationships/notesSlide" Target="/ppt/notesSlides/notesSlide6.xml" Id="R230619704e38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57a024c8644a0" /><Relationship Type="http://schemas.openxmlformats.org/officeDocument/2006/relationships/notesSlide" Target="/ppt/notesSlides/notesSlide7.xml" Id="Rb556604951f84b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53954fdb64baf" /><Relationship Type="http://schemas.openxmlformats.org/officeDocument/2006/relationships/notesSlide" Target="/ppt/notesSlides/notesSlide8.xml" Id="Rc0d6657c0f5e4c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f32469e9b4f69" /><Relationship Type="http://schemas.openxmlformats.org/officeDocument/2006/relationships/notesSlide" Target="/ppt/notesSlides/notesSlide9.xml" Id="R3514e19b164247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8f4d7c87a4354" /><Relationship Type="http://schemas.openxmlformats.org/officeDocument/2006/relationships/notesSlide" Target="/ppt/notesSlides/notesSlide10.xml" Id="R2c6a536b7de64e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e03937e174fd2" /><Relationship Type="http://schemas.openxmlformats.org/officeDocument/2006/relationships/notesSlide" Target="/ppt/notesSlides/notesSlide11.xml" Id="Rfdd12c00f38e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c5a2210c7444d" /><Relationship Type="http://schemas.openxmlformats.org/officeDocument/2006/relationships/notesSlide" Target="/ppt/notesSlides/notesSlide12.xml" Id="R85791cbf5f3d45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c1fd3ee184693" /><Relationship Type="http://schemas.openxmlformats.org/officeDocument/2006/relationships/notesSlide" Target="/ppt/notesSlides/notesSlide13.xml" Id="R15fe33e011814a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9b6e1e47242ef" /><Relationship Type="http://schemas.openxmlformats.org/officeDocument/2006/relationships/notesSlide" Target="/ppt/notesSlides/notesSlide14.xml" Id="Rd44d1a04f1db40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e87fd3e3a4306" /><Relationship Type="http://schemas.openxmlformats.org/officeDocument/2006/relationships/notesSlide" Target="/ppt/notesSlides/notesSlide15.xml" Id="R49d832fcdf2d47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2dcb8c4394aa8" /><Relationship Type="http://schemas.openxmlformats.org/officeDocument/2006/relationships/notesSlide" Target="/ppt/notesSlides/notesSlide16.xml" Id="R944d81309d434d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ad83bc7864f3b" /><Relationship Type="http://schemas.openxmlformats.org/officeDocument/2006/relationships/notesSlide" Target="/ppt/notesSlides/notesSlide17.xml" Id="R9c09c92b082f4c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920895d204d18" /><Relationship Type="http://schemas.openxmlformats.org/officeDocument/2006/relationships/notesSlide" Target="/ppt/notesSlides/notesSlide18.xml" Id="R22aaa3243a3948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4fd99dfe74eef" /><Relationship Type="http://schemas.openxmlformats.org/officeDocument/2006/relationships/notesSlide" Target="/ppt/notesSlides/notesSlide19.xml" Id="R9d5cb6e861ac4f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a20a27b214f00" /><Relationship Type="http://schemas.openxmlformats.org/officeDocument/2006/relationships/notesSlide" Target="/ppt/notesSlides/notesSlide20.xml" Id="R81e68462e5984b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Security judgments in</a:t>
            </a:r>
          </a:p>
          <a:p xmlns:a="http://schemas.openxmlformats.org/drawingml/2006/main">
            <a:r>
              <a:rPr sz="7200"/>
              <a:t>agent-assisted coding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Interim defense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S.P.N.P. Eshan  |  22000526  |  SCS4224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Supervisor: Dr. R.N. Rajapakse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INTERIM DEFENSE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2579914"/>
            <a:ext cx="9448800" cy="36242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Can a developer feel confident</a:t>
            </a:r>
          </a:p>
          <a:p xmlns:a="http://schemas.openxmlformats.org/drawingml/2006/main">
            <a:r>
              <a:rPr sz="7200"/>
              <a:t>while insecure code survives?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THE RESEARCH PROBLEM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AI-ASSISTED SECURITY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prior studies establish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Interaction purpose</a:t>
            </a:r>
          </a:p>
          <a:p xmlns:a="http://schemas.openxmlformats.org/drawingml/2006/main">
            <a:r>
              <a:t>Barke et al. distinguish known-step execution from approach seeking, with familiar and unfamiliar task components.</a:t>
            </a:r>
            <a:br/>
            <a:r>
              <a:t>Mozannar et al. support replay-based interpretation.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belief and review</a:t>
            </a:r>
          </a:p>
          <a:p xmlns:a="http://schemas.openxmlformats.org/drawingml/2006/main">
            <a:r>
              <a:t>Perry et al. compare code security with developers’ beliefs.</a:t>
            </a:r>
            <a:br/>
            <a:r>
              <a:t>Khalid et al. study evaluation, selection and edits of AI code.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gap: link belief, behaviour and final code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Observed intent</a:t>
            </a:r>
          </a:p>
          <a:p xmlns:a="http://schemas.openxmlformats.org/drawingml/2006/main">
            <a:r>
              <a:t>Code actual acceleration and exploration episodes.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Target security</a:t>
            </a:r>
          </a:p>
          <a:p xmlns:a="http://schemas.openxmlformats.org/drawingml/2006/main">
            <a:r>
              <a:t>Assess SQL injection and path traversal.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Assigned structure</a:t>
            </a:r>
          </a:p>
          <a:p xmlns:a="http://schemas.openxmlformats.org/drawingml/2006/main">
            <a:r>
              <a:t>Compare two task packages within each developer.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One linked natural trace</a:t>
            </a:r>
          </a:p>
          <a:p xmlns:a="http://schemas.openxmlformats.org/drawingml/2006/main">
            <a:r>
              <a:t>Follow prompts, agent edits, human checks, final security estimates and independently assessed submitted code in the same task.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research questions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RQ1  Judgment</a:t>
            </a:r>
          </a:p>
          <a:p xmlns:a="http://schemas.openxmlformats.org/drawingml/2006/main">
            <a:r>
              <a:t>Final-feature confidence versus assessed security.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RQ2  Final code</a:t>
            </a:r>
          </a:p>
          <a:p xmlns:a="http://schemas.openxmlformats.org/drawingml/2006/main">
            <a:r>
              <a:t>Target vulnerabilities in submitted features.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RQ3  Verification</a:t>
            </a:r>
          </a:p>
          <a:p xmlns:a="http://schemas.openxmlformats.org/drawingml/2006/main">
            <a:r>
              <a:t>Checks around observed integration of agent changes.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RQ4  Weakness class</a:t>
            </a:r>
          </a:p>
          <a:p xmlns:a="http://schemas.openxmlformats.org/drawingml/2006/main">
            <a:r>
              <a:t>Exploratory SQL injection versus path traversal.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assigned work structures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ACCELERATION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Familiar Node.js route and an implementation map with a known sequence.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 each step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Ask agent to execute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freely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Small unfamiliar record/document interface with operations but no plan.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Understand interface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approaches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Check freely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One participant completes both conditions</a:t>
            </a:r>
          </a:p>
          <a:p xmlns:a="http://schemas.openxmlformats.org/drawingml/2006/main">
            <a:r>
              <a:t>The condition combines a human orientation card with an implementation interface. Observed interaction mode is coded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Project and order balance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2</a:t>
            </a:r>
          </a:p>
          <a:p xmlns:a="http://schemas.openxmlformats.org/drawingml/2006/main">
            <a:r>
              <a:t>A + exploration first</a:t>
            </a:r>
            <a:br/>
            <a:r>
              <a:t>B + acceleration second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1</a:t>
            </a:r>
          </a:p>
          <a:p xmlns:a="http://schemas.openxmlformats.org/drawingml/2006/main">
            <a:r>
              <a:t>A + acceleration first</a:t>
            </a:r>
            <a:br/>
            <a:r>
              <a:t>B + exploration second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4</a:t>
            </a:r>
          </a:p>
          <a:p xmlns:a="http://schemas.openxmlformats.org/drawingml/2006/main">
            <a:r>
              <a:t>B + exploration first</a:t>
            </a:r>
            <a:br/>
            <a:r>
              <a:t>A + acceleration second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3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Sequence 3</a:t>
            </a:r>
          </a:p>
          <a:p xmlns:a="http://schemas.openxmlformats.org/drawingml/2006/main">
            <a:r>
              <a:t>B + acceleration first</a:t>
            </a:r>
            <a:br/>
            <a:r>
              <a:t>A + exploration second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Four assigned sequences</a:t>
            </a:r>
          </a:p>
          <a:p xmlns:a="http://schemas.openxmlformats.org/drawingml/2006/main">
            <a:r>
              <a:t>Each developer does one Resource Catalogue and one Support Archive task. Both projects can occur in either condition and position.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session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7F75CD62-D4EC-4896-B757-3CEC1FCAE18F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END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Two free coding tasks</a:t>
            </a:r>
          </a:p>
          <a:p xmlns:a="http://schemas.openxmlformats.org/drawingml/2006/main">
            <a:r>
              <a:t>Use fresh projects and agent conversations. Capture work; rate each final feature.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Consent and practice</a:t>
            </a:r>
          </a:p>
          <a:p xmlns:a="http://schemas.openxmlformats.org/drawingml/2006/main">
            <a:r>
              <a:t>Screen eligibility, record background, then practise on an unrelated task.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Replay interview</a:t>
            </a:r>
          </a:p>
          <a:p xmlns:a="http://schemas.openxmlformats.org/drawingml/2006/main">
            <a:r>
              <a:t>Discuss fixed real moments before hidden security feedback.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Same security targets, different route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b="1"/>
              <a:t>Project A</a:t>
            </a:r>
          </a:p>
          <a:p xmlns:a="http://schemas.openxmlformats.org/drawingml/2006/main">
            <a:r>
              <a:t>Resource catalogue</a:t>
            </a:r>
            <a:br/>
            <a:r>
              <a:t>Exact SQL filter and a file read confined to one folder.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Work structure</a:t>
            </a:r>
          </a:p>
          <a:p xmlns:a="http://schemas.openxmlformats.org/drawingml/2006/main">
            <a:r>
              <a:t>Acceleration uses ordinary APIs and a map; exploration uses a thin unfamiliar interface.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Project B</a:t>
            </a:r>
          </a:p>
          <a:p xmlns:a="http://schemas.openxmlformats.org/drawingml/2006/main">
            <a:r>
              <a:t>Support archive</a:t>
            </a:r>
            <a:br/>
            <a:r>
              <a:t>The same two feature and security requirements in a parallel repo.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task: from prompt to final evidence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5 · Freeze</a:t>
            </a:r>
          </a:p>
          <a:p xmlns:a="http://schemas.openxmlformats.org/drawingml/2006/main">
            <a:r>
              <a:t>Save exact final code and hash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6 · Rate</a:t>
            </a:r>
          </a:p>
          <a:p xmlns:a="http://schemas.openxmlformats.org/drawingml/2006/main">
            <a:r>
              <a:t>Estimate SQL and path security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7 · Transfer</a:t>
            </a:r>
          </a:p>
          <a:p xmlns:a="http://schemas.openxmlformats.org/drawingml/2006/main">
            <a:r>
              <a:t>Upload six files and answer task form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8 · Replay</a:t>
            </a:r>
          </a:p>
          <a:p xmlns:a="http://schemas.openxmlformats.org/drawingml/2006/main">
            <a:r>
              <a:t>Discuss selected real moments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1 · Portal</a:t>
            </a:r>
          </a:p>
          <a:p xmlns:a="http://schemas.openxmlformats.org/drawingml/2006/main">
            <a:r>
              <a:t>Read human-only orientation card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2 · Workspace</a:t>
            </a:r>
          </a:p>
          <a:p xmlns:a="http://schemas.openxmlformats.org/drawingml/2006/main">
            <a:r>
              <a:t>Open fresh task and agent conversation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3 · Record</a:t>
            </a:r>
          </a:p>
          <a:p xmlns:a="http://schemas.openxmlformats.org/drawingml/2006/main">
            <a:r>
              <a:t>Start Meet, observer and code watcher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4 · Code</a:t>
            </a:r>
          </a:p>
          <a:p xmlns:a="http://schemas.openxmlformats.org/drawingml/2006/main">
            <a:r>
              <a:t>Prompt, inspect, test, edit or reject freely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Assignment, intent and action are different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Observed mode</a:t>
            </a:r>
          </a:p>
          <a:p xmlns:a="http://schemas.openxmlformats.org/drawingml/2006/main">
            <a:r>
              <a:t>Intent may be acceleration, exploration, mixed or unclear.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Human checks</a:t>
            </a:r>
          </a:p>
          <a:p xmlns:a="http://schemas.openxmlformats.org/drawingml/2006/main">
            <a:r>
              <a:t>Count security checks only when results were reviewed.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Assigned condition</a:t>
            </a:r>
          </a:p>
          <a:p xmlns:a="http://schemas.openxmlformats.org/drawingml/2006/main">
            <a:r>
              <a:t>Card and interface define the comparison.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An agent edit is not human acceptance</a:t>
            </a:r>
          </a:p>
          <a:p xmlns:a="http://schemas.openxmlformats.org/drawingml/2006/main">
            <a:r>
              <a:t>Code intent from prompts and replay. Record application, inspection, continuation, endorsement, repair and final survival as separate events.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Assess the exact final submission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Function and target security</a:t>
            </a:r>
          </a:p>
          <a:p xmlns:a="http://schemas.openxmlformats.org/drawingml/2006/main">
            <a:r>
              <a:t>Run functional and bounded SQL/path attack probes in an isolated environment; two reviewers inspect metadata-masked final code.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Conditional exposure history</a:t>
            </a:r>
          </a:p>
          <a:p xmlns:a="http://schemas.openxmlformats.org/drawingml/2006/main">
            <a:r>
              <a:t>Trace agent-origin vulnerable changes only when confirmed in code and recordings. No exposure means survival is not estimable.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Evidence linked by task and final hash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Connect the final belief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to the exact final code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Portal assignment and forms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portal links assignment, task files, forms and six uploads. The final manifest and SQL/path ratings share a hash. Agent records, code snapshots and a restricted Meet recording support event coding. Independent review labels final security.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Code history and final snapshot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Scoped agent conversation record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Researcher Meet recording link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Replay and independent review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the four RQs will be evaluated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RQ1  Judgment</a:t>
            </a:r>
          </a:p>
          <a:p xmlns:a="http://schemas.openxmlformats.org/drawingml/2006/main">
            <a:r>
              <a:t>Participant-paired Brier difference; confidence by security label.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RQ2  Final security</a:t>
            </a:r>
          </a:p>
          <a:p xmlns:a="http://schemas.openxmlformats.org/drawingml/2006/main">
            <a:r>
              <a:t>All feature outcomes and paired vulnerable counts; exposure flow separately.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RQ3  Checks</a:t>
            </a:r>
          </a:p>
          <a:p xmlns:a="http://schemas.openxmlformats.org/drawingml/2006/main">
            <a:r>
              <a:t>Coded before/after checks, continuation and repair; replay cases.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RQ4  Class</a:t>
            </a:r>
          </a:p>
          <a:p xmlns:a="http://schemas.openxmlformats.org/drawingml/2006/main">
            <a:r>
              <a:t>SQL and path counts with uncertainty; exploratory.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Validity checks before interpreting a contrast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Code intent independently; retain mixed and unclear time.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MODE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completion, time, difficulty and carryover.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TASK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Verify real prompt, video, code and hash linkage.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CAPTURE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probes and masked reviewer agreement.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A condition difference has rival explanations</a:t>
            </a:r>
          </a:p>
          <a:p xmlns:a="http://schemas.openxmlformats.org/drawingml/2006/main">
            <a:r>
              <a:t>The card and interface change together. Pilot mode separation and difficulty alongside evidence quality and final-code assessment.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progress: built, not yet validated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Parallel JavaScript projects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Adjudicated participant findings reported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Balanced project-condition-order sequences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Engineering evidence, not participant findings</a:t>
            </a:r>
          </a:p>
          <a:p xmlns:a="http://schemas.openxmlformats.org/drawingml/2006/main">
            <a:r>
              <a:t>Hosted synthetic delivery, two-task upload and retrieval passed. New packages are served to fresh accounts. Real capture and code-review rehearsal remain gates.</a:t>
            </a:r>
          </a:p>
        </p:txBody>
      </p:sp>
      <p:sp>
        <p:nvSpPr>
          <p:cNvPr id="16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00EC5BE-2B4D-939D-B2BC-321F895D02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evidence: reserved for human sessions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11B03505-E664-4A42-B5F9-5A8A9B4BF12C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Feasibility</a:t>
            </a:r>
          </a:p>
          <a:p xmlns:a="http://schemas.openxmlformats.org/drawingml/2006/main">
            <a:r>
              <a:t>Pending: completion, active time, difficulty and burden by condition.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Manipulation</a:t>
            </a:r>
          </a:p>
          <a:p xmlns:a="http://schemas.openxmlformats.org/drawingml/2006/main">
            <a:r>
              <a:t>Pending: coded intent episodes, mixed time and order effects.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Measurement</a:t>
            </a:r>
          </a:p>
          <a:p xmlns:a="http://schemas.openxmlformats.org/drawingml/2006/main">
            <a:r>
              <a:t>Pending: real capture, review agreement and rating comprehension.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PENDING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Gates before the next participant pilot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7F75CD62-D4EC-4896-B757-3CEC1FCAE18F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GATE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and data</a:t>
            </a:r>
          </a:p>
          <a:p xmlns:a="http://schemas.openxmlformats.org/drawingml/2006/main">
            <a:r>
              <a:t>Test reference cases and two reviews; confirm consent, storage and restore.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Real evidence route</a:t>
            </a:r>
          </a:p>
          <a:p xmlns:a="http://schemas.openxmlformats.org/drawingml/2006/main">
            <a:r>
              <a:t>Rehearse both tasks on intended hosts; verify capture, upload and playback.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Frozen pilot kit</a:t>
            </a:r>
          </a:p>
          <a:p xmlns:a="http://schemas.openxmlformats.org/drawingml/2006/main">
            <a:r>
              <a:t>Record package, forms, model, cap, allocation and coding rules.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From belief</a:t>
            </a:r>
          </a:p>
          <a:p xmlns:a="http://schemas.openxmlformats.org/drawingml/2006/main">
            <a:r>
              <a:rPr sz="7200"/>
              <a:t>to final code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Two assigned work structures. Freely edited agent code. Final security judgments linked to reviewed submissions.</a:t>
            </a:r>
          </a:p>
          <a:p xmlns:a="http://schemas.openxmlformats.org/drawingml/2006/main">
            <a:r>
              <a:rPr sz="2000"/>
              <a:t>Pilot evidence comes next.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Selected references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Interaction and observation</a:t>
            </a:r>
          </a:p>
          <a:p xmlns:a="http://schemas.openxmlformats.org/drawingml/2006/main">
            <a:r>
              <a:t>Barke et al. (2022), Grounded Copilot</a:t>
            </a:r>
            <a:br/>
            <a:r>
              <a:t>Mozannar et al. (2024), Activity replay</a:t>
            </a:r>
            <a:br/>
            <a:r>
              <a:t>Tang et al. (2024), Validation and repair</a:t>
            </a:r>
            <a:br/>
            <a:r>
              <a:t>Lakens (2022), Sample justification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Security and evaluation</a:t>
            </a:r>
          </a:p>
          <a:p xmlns:a="http://schemas.openxmlformats.org/drawingml/2006/main">
            <a:r>
              <a:t>Perry et al. (2022), AI-assisted security</a:t>
            </a:r>
            <a:br/>
            <a:r>
              <a:t>Khalid et al. (2026), Insecure suggestions</a:t>
            </a:r>
            <a:br/>
            <a:r>
              <a:t>OWASP, Secure Code Review</a:t>
            </a:r>
            <a:br/>
            <a:r>
              <a:t>Gneiting &amp; Raftery (2007), Probability scoring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2026-10-18T17:38:53.1080000Z</dcterms:created>
  <dcterms:modified xsi:type="dcterms:W3CDTF">2026-10-18T17:38:53.1080000Z</dcterms:modified>
</coreProperties>
</file>