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52694465c34b07" /><Relationship Type="http://schemas.openxmlformats.org/officeDocument/2006/relationships/extended-properties" Target="/docProps/app.xml" Id="R54cfe72b50554ae9" /><Relationship Type="http://schemas.openxmlformats.org/officeDocument/2006/relationships/officeDocument" Target="/ppt/presentation.xml" Id="R5fe0fc5582744e6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609d293b6134d9d"/>
  </p:sldMasterIdLst>
  <p:notesMasterIdLst>
    <p:notesMasterId xmlns:r="http://schemas.openxmlformats.org/officeDocument/2006/relationships" r:id="R752264796b5c4e13"/>
  </p:notesMasterIdLst>
  <p:sldIdLst>
    <p:sldId xmlns:r="http://schemas.openxmlformats.org/officeDocument/2006/relationships" id="256" r:id="R9f7c0036f2f446ec"/>
    <p:sldId xmlns:r="http://schemas.openxmlformats.org/officeDocument/2006/relationships" id="257" r:id="Rc610e972543b470c"/>
    <p:sldId xmlns:r="http://schemas.openxmlformats.org/officeDocument/2006/relationships" id="258" r:id="R249da26253dc432c"/>
    <p:sldId xmlns:r="http://schemas.openxmlformats.org/officeDocument/2006/relationships" id="259" r:id="R9e903721b8ec495c"/>
    <p:sldId xmlns:r="http://schemas.openxmlformats.org/officeDocument/2006/relationships" id="260" r:id="Rdf88fd18685c4330"/>
    <p:sldId xmlns:r="http://schemas.openxmlformats.org/officeDocument/2006/relationships" id="261" r:id="Rbb975c03df694cba"/>
    <p:sldId xmlns:r="http://schemas.openxmlformats.org/officeDocument/2006/relationships" id="262" r:id="R9647e45b1a594288"/>
    <p:sldId xmlns:r="http://schemas.openxmlformats.org/officeDocument/2006/relationships" id="263" r:id="Ra116c8f39b814551"/>
    <p:sldId xmlns:r="http://schemas.openxmlformats.org/officeDocument/2006/relationships" id="264" r:id="Rd495a8723025439b"/>
    <p:sldId xmlns:r="http://schemas.openxmlformats.org/officeDocument/2006/relationships" id="265" r:id="Raf215f9b68cd4133"/>
    <p:sldId xmlns:r="http://schemas.openxmlformats.org/officeDocument/2006/relationships" id="266" r:id="R7e743a5c40d747c4"/>
    <p:sldId xmlns:r="http://schemas.openxmlformats.org/officeDocument/2006/relationships" id="267" r:id="R4db888085d8f4226"/>
    <p:sldId xmlns:r="http://schemas.openxmlformats.org/officeDocument/2006/relationships" id="268" r:id="R216f85dded054785"/>
    <p:sldId xmlns:r="http://schemas.openxmlformats.org/officeDocument/2006/relationships" id="269" r:id="R58a223b1caca4f49"/>
    <p:sldId xmlns:r="http://schemas.openxmlformats.org/officeDocument/2006/relationships" id="270" r:id="Rb2c93f428dec4e2c"/>
    <p:sldId xmlns:r="http://schemas.openxmlformats.org/officeDocument/2006/relationships" id="271" r:id="R861a55aa34e94de5"/>
    <p:sldId xmlns:r="http://schemas.openxmlformats.org/officeDocument/2006/relationships" id="272" r:id="Rc59c69bfb4e94700"/>
    <p:sldId xmlns:r="http://schemas.openxmlformats.org/officeDocument/2006/relationships" id="273" r:id="Rba25bdce107b4773"/>
    <p:sldId xmlns:r="http://schemas.openxmlformats.org/officeDocument/2006/relationships" id="274" r:id="Rd032fc7a15684f07"/>
    <p:sldId xmlns:r="http://schemas.openxmlformats.org/officeDocument/2006/relationships" id="275" r:id="Re12148e147594378"/>
  </p:sldIdLst>
  <p:sldSz cx="12192000" cy="6858000"/>
  <p:notesSz cx="6858000" cy="9144000"/>
  <p:embeddedFontLst>
    <p:embeddedFont>
      <p:font typeface="OpenAI Sans"/>
      <p:regular xmlns:r="http://schemas.openxmlformats.org/officeDocument/2006/relationships" r:id="R96cb38acd6914cda"/>
      <p:bold xmlns:r="http://schemas.openxmlformats.org/officeDocument/2006/relationships" r:id="R57e693673569413a"/>
      <p:italic xmlns:r="http://schemas.openxmlformats.org/officeDocument/2006/relationships" r:id="R15797f8aba69480c"/>
      <p:boldItalic xmlns:r="http://schemas.openxmlformats.org/officeDocument/2006/relationships" r:id="Rb9488814a975476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b01bb4b22834951" /><Relationship Type="http://schemas.openxmlformats.org/officeDocument/2006/relationships/slideMaster" Target="/ppt/slideMasters/slideMaster1.xml" Id="R4609d293b6134d9d" /><Relationship Type="http://schemas.openxmlformats.org/officeDocument/2006/relationships/notesMaster" Target="/ppt/notesMasters/notesMaster1.xml" Id="R752264796b5c4e13" /><Relationship Type="http://schemas.openxmlformats.org/officeDocument/2006/relationships/presProps" Target="/ppt/presProps.xml" Id="R5340b1ce3610405b" /><Relationship Type="http://schemas.openxmlformats.org/officeDocument/2006/relationships/viewProps" Target="/ppt/viewProps.xml" Id="R9d6b466e9aa14c4d" /><Relationship Type="http://schemas.openxmlformats.org/officeDocument/2006/relationships/tableStyles" Target="/ppt/tableStyles.xml" Id="Rf2bad26924934fc2" /><Relationship Type="http://schemas.openxmlformats.org/officeDocument/2006/relationships/font" Target="/ppt/fonts/font.dat" Id="R96cb38acd6914cda" /><Relationship Type="http://schemas.openxmlformats.org/officeDocument/2006/relationships/font" Target="/ppt/fonts/font2.dat" Id="R57e693673569413a" /><Relationship Type="http://schemas.openxmlformats.org/officeDocument/2006/relationships/font" Target="/ppt/fonts/font3.dat" Id="R15797f8aba69480c" /><Relationship Type="http://schemas.openxmlformats.org/officeDocument/2006/relationships/font" Target="/ppt/fonts/font4.dat" Id="Rb9488814a9754761" /><Relationship Type="http://schemas.openxmlformats.org/officeDocument/2006/relationships/slide" Target="/ppt/slides/slide1.xml" Id="R9f7c0036f2f446ec" /><Relationship Type="http://schemas.openxmlformats.org/officeDocument/2006/relationships/slide" Target="/ppt/slides/slide2.xml" Id="Rc610e972543b470c" /><Relationship Type="http://schemas.openxmlformats.org/officeDocument/2006/relationships/slide" Target="/ppt/slides/slide3.xml" Id="R249da26253dc432c" /><Relationship Type="http://schemas.openxmlformats.org/officeDocument/2006/relationships/slide" Target="/ppt/slides/slide4.xml" Id="R9e903721b8ec495c" /><Relationship Type="http://schemas.openxmlformats.org/officeDocument/2006/relationships/slide" Target="/ppt/slides/slide5.xml" Id="Rdf88fd18685c4330" /><Relationship Type="http://schemas.openxmlformats.org/officeDocument/2006/relationships/slide" Target="/ppt/slides/slide6.xml" Id="Rbb975c03df694cba" /><Relationship Type="http://schemas.openxmlformats.org/officeDocument/2006/relationships/slide" Target="/ppt/slides/slide7.xml" Id="R9647e45b1a594288" /><Relationship Type="http://schemas.openxmlformats.org/officeDocument/2006/relationships/slide" Target="/ppt/slides/slide8.xml" Id="Ra116c8f39b814551" /><Relationship Type="http://schemas.openxmlformats.org/officeDocument/2006/relationships/slide" Target="/ppt/slides/slide9.xml" Id="Rd495a8723025439b" /><Relationship Type="http://schemas.openxmlformats.org/officeDocument/2006/relationships/slide" Target="/ppt/slides/slide10.xml" Id="Raf215f9b68cd4133" /><Relationship Type="http://schemas.openxmlformats.org/officeDocument/2006/relationships/slide" Target="/ppt/slides/slide11.xml" Id="R7e743a5c40d747c4" /><Relationship Type="http://schemas.openxmlformats.org/officeDocument/2006/relationships/slide" Target="/ppt/slides/slide12.xml" Id="R4db888085d8f4226" /><Relationship Type="http://schemas.openxmlformats.org/officeDocument/2006/relationships/slide" Target="/ppt/slides/slide13.xml" Id="R216f85dded054785" /><Relationship Type="http://schemas.openxmlformats.org/officeDocument/2006/relationships/slide" Target="/ppt/slides/slide14.xml" Id="R58a223b1caca4f49" /><Relationship Type="http://schemas.openxmlformats.org/officeDocument/2006/relationships/slide" Target="/ppt/slides/slide15.xml" Id="Rb2c93f428dec4e2c" /><Relationship Type="http://schemas.openxmlformats.org/officeDocument/2006/relationships/slide" Target="/ppt/slides/slide16.xml" Id="R861a55aa34e94de5" /><Relationship Type="http://schemas.openxmlformats.org/officeDocument/2006/relationships/slide" Target="/ppt/slides/slide17.xml" Id="Rc59c69bfb4e94700" /><Relationship Type="http://schemas.openxmlformats.org/officeDocument/2006/relationships/slide" Target="/ppt/slides/slide18.xml" Id="Rba25bdce107b4773" /><Relationship Type="http://schemas.openxmlformats.org/officeDocument/2006/relationships/slide" Target="/ppt/slides/slide19.xml" Id="Rd032fc7a15684f07" /><Relationship Type="http://schemas.openxmlformats.org/officeDocument/2006/relationships/slide" Target="/ppt/slides/slide20.xml" Id="Re12148e1475943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ab7c4a528f47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8848a5471b4e27" /><Relationship Type="http://schemas.openxmlformats.org/officeDocument/2006/relationships/notesMaster" Target="/ppt/notesMasters/notesMaster1.xml" Id="R742b1c1449eb42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c7c7cb978c4fe7" /><Relationship Type="http://schemas.openxmlformats.org/officeDocument/2006/relationships/notesMaster" Target="/ppt/notesMasters/notesMaster1.xml" Id="Rd2e4c32ab12b40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b104204fbe4093" /><Relationship Type="http://schemas.openxmlformats.org/officeDocument/2006/relationships/notesMaster" Target="/ppt/notesMasters/notesMaster1.xml" Id="R4093e57ac6f94b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713c5cec2a4f50" /><Relationship Type="http://schemas.openxmlformats.org/officeDocument/2006/relationships/notesMaster" Target="/ppt/notesMasters/notesMaster1.xml" Id="R4daa40d0d0a64a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5c3d14adb94b5a" /><Relationship Type="http://schemas.openxmlformats.org/officeDocument/2006/relationships/notesMaster" Target="/ppt/notesMasters/notesMaster1.xml" Id="Re860195473b147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8617ca475b413f" /><Relationship Type="http://schemas.openxmlformats.org/officeDocument/2006/relationships/notesMaster" Target="/ppt/notesMasters/notesMaster1.xml" Id="Rddb5adc82a194b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712c179514442e" /><Relationship Type="http://schemas.openxmlformats.org/officeDocument/2006/relationships/notesMaster" Target="/ppt/notesMasters/notesMaster1.xml" Id="Rb79c151ae30849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ad1bf244e34396" /><Relationship Type="http://schemas.openxmlformats.org/officeDocument/2006/relationships/notesMaster" Target="/ppt/notesMasters/notesMaster1.xml" Id="R46022161a41a4b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0e581930fa481f" /><Relationship Type="http://schemas.openxmlformats.org/officeDocument/2006/relationships/notesMaster" Target="/ppt/notesMasters/notesMaster1.xml" Id="R4e721f89bcff46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7e277b1fd04892" /><Relationship Type="http://schemas.openxmlformats.org/officeDocument/2006/relationships/notesMaster" Target="/ppt/notesMasters/notesMaster1.xml" Id="Ra17eb374ad0e43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981577b3a84937" /><Relationship Type="http://schemas.openxmlformats.org/officeDocument/2006/relationships/notesMaster" Target="/ppt/notesMasters/notesMaster1.xml" Id="R2aa19566c661425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e450b9e7274bd6" /><Relationship Type="http://schemas.openxmlformats.org/officeDocument/2006/relationships/notesMaster" Target="/ppt/notesMasters/notesMaster1.xml" Id="Raef5b18b1a3f43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bb0b59f1ac4e7c" /><Relationship Type="http://schemas.openxmlformats.org/officeDocument/2006/relationships/notesMaster" Target="/ppt/notesMasters/notesMaster1.xml" Id="Rd470e3fb307543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2bbf9e05df34971" /><Relationship Type="http://schemas.openxmlformats.org/officeDocument/2006/relationships/notesMaster" Target="/ppt/notesMasters/notesMaster1.xml" Id="R1b45b244dae04c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c93bf7a38d4089" /><Relationship Type="http://schemas.openxmlformats.org/officeDocument/2006/relationships/notesMaster" Target="/ppt/notesMasters/notesMaster1.xml" Id="R346b44d9db3b4a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5de85e2bf04b41" /><Relationship Type="http://schemas.openxmlformats.org/officeDocument/2006/relationships/notesMaster" Target="/ppt/notesMasters/notesMaster1.xml" Id="R757d0e1283ba48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7d7cad909d41d1" /><Relationship Type="http://schemas.openxmlformats.org/officeDocument/2006/relationships/notesMaster" Target="/ppt/notesMasters/notesMaster1.xml" Id="R44017313840f462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3ec1bf9a4c4537" /><Relationship Type="http://schemas.openxmlformats.org/officeDocument/2006/relationships/notesMaster" Target="/ppt/notesMasters/notesMaster1.xml" Id="Rd283472256cd4c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ac194e695e4f82" /><Relationship Type="http://schemas.openxmlformats.org/officeDocument/2006/relationships/notesMaster" Target="/ppt/notesMasters/notesMaster1.xml" Id="Rd27d6567ddc448d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d22438ca76845e2" /><Relationship Type="http://schemas.openxmlformats.org/officeDocument/2006/relationships/notesMaster" Target="/ppt/notesMasters/notesMaster1.xml" Id="R9ead64d1ee2740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operational protocol: natural-2026-10-13-r3, 13 October 2026. Source: NATURAL_WORKFLOW_METHOD.md. The proposal-defense PDF and controlled-checkpoint procedure are historical context.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functional-looking change can violate a stated security requirement. The study compares security judgments and final outcomes in two assigned work orientations. Do not imply that acceleration has already been shown to cause insecurity. Source: RQ.md.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Barke et al., Grounded Copilot, https://arxiv.org/abs/2206.15000 ; Perry et al., Do Users Write More Insecure Code with AI Assistants?, https://arxiv.org/abs/2211.03622 ; Khalid et al., https://arxiv.org/abs/2609.21020 ; Brown et al., https://research.google/pubs/identifying-the-factors-that-influence-trust-in-ai-code-completion/ ; Wang et al., https://doi.org/10.1145/3630106.3658984 . These works motivate the study but do not validate its exact manipulation.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Prior work motivates interaction purpose, security beliefs and code review separately. This study combines a paired encouragement comparison with natural agent editing and linked final-code evidence. Source: RQ.md; REFERENCES.md.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Natural-task interpretations from RQ.md. RQ3 wording is proposed for supervisor freeze before main recruitment. Observed mode is a coded association; assigned encouragement is the condition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Natural workflow r3: no prescribed prompt, forced reveal, paused code or keep/reject gate. Condition card appears only in the participant portal; the agent-facing workspace has common requirements. A participant may switch observed mode. Source: NATURAL_WORKFLOW_METHOD.md.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four planned sequences are in METHODOLOGY.md. Actual allocation and deviations must be audited before claiming a randomized encouragement comparison.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feasibility timing: about 10 minutes setup/practice, up to 30 minutes per task, 5-minute break, and 15–20 minutes replay/interview plus forms and transfer. Pilot will revise and then freeze equal caps. Source: NATURAL_WORKFLOW_METHOD.md.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two runnable prototype projects are described in tasks/RESOURCE_CATALOGUE.md and tasks/SUPPORT_ARCHIVE.md. Comparable difficulty remains a pilot question.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forced checkpoints or supplied proposals. Ratings are tied to the exact final hash and collected before researcher assessment or debrief. Both tasks use the same tools, security requirements and time allowance. Source: NATURAL_WORKFLOW_METHOD.md; study-system/pilot/NATURAL_SESSION_RUNBOOK.md.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 agent-applied edit is not a conscious keep decision. Timing may be an interval if snapshots are sparse. Verification is coded independently of mode. Source: study-system/instruments/NATURAL_CODEBOOK.md.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Old candidate oracles validate controlled patches only and do not adjudicate arbitrary natural submissions. SQL: binding/dataflow and injection tests. Path: containment, traversal, absolute path and supported symlink/encoding cases. Target-secure is bounded to the specified threat model. Source: NATURAL_ANALYSIS_PLAN.md.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Automated capture does not infer mode, human acceptance or complete verification. The watcher samples at two seconds; short edits may be missed. Real host transcript/video quality remains unverified. Source: study-system/pilot/NATURAL_DATA_COVERAGE.md.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Participant is the sampling unit: 30 people yield up to 120 repeated feature judgments, not 120 independent people. Primary complete-pair Brier contrast averages SQL/path within each condition, then pairs conditions. Brier is probability accuracy, not pure calibration. Sparse vulnerable cases limit discrimination; missing labels stay visible. Source: NATURAL_ANALYSIS_PLAN.md.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Explicit security requirements make this a security-salient setting. The small resource-bounded sample does not support broad interaction claims. Verification-outcome association is observational. Source: RESEARCH_AUDIT.md; NATURAL_ANALYSIS_PLAN.md.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of 13 October 2026: study-system/pilot/READINESS_2026-10-13.md and RESEARCH_AUDIT.md. The seven-file receipt verifies transfer/hash linkage only. The old 16 constructed candidates and eight checkpoints are not results of the natural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human pilot result is available. Plan separate wording checks and 4–6 feasibility sessions before freezing main study. Report failures or null manipulation honestly. Source: NATURAL_WORKFLOW_METHOD.md.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Ethics coverage of free coding and recording was confirmed by the researcher; use the approved institutional sheet. Localhost is not participant-accessible from other computers. Exact-host and remote route must pass before pilot. Source: study-system/pilot/READINESS_2026-10-13.md; RESEARCH_AUDIT.md.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Contribution: a reproducible linked-evidence method and bounded empirical estimates, contingent on successful pilot and main collection. Natural exposure is not guaranteed. Source: NATURAL_WORKFLOW_METHOD.md; RQ.md.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Full source URLs and limitations are documented in REFERENCES.md. Barke https://arxiv.org/abs/2206.15000 ; Brown https://research.google/pubs/identifying-the-factors-that-influence-trust-in-ai-code-completion/ ; Wang https://doi.org/10.1145/3630106.3658984 ; Okamura https://doi.org/10.1371/journal.pone.0229132 ; Perry https://arxiv.org/abs/2211.03622 ; Khalid https://arxiv.org/abs/2609.21020 ; Oh https://arxiv.org/abs/2312.06227 ; Tang https://arxiv.org/abs/2405.16081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389a2fa3b646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b580e915574c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ac937305934f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0abf7ae5234bd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fd13bc0c5c412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8c18ff923c48e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d6ec14879b94ad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fbb2ec4e2764797"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4e3e87a5944841" /><Relationship Type="http://schemas.openxmlformats.org/officeDocument/2006/relationships/slideLayout" Target="/ppt/slideLayouts/slideLayout1.xml" Id="R67ec573fb31f47d3" /><Relationship Type="http://schemas.openxmlformats.org/officeDocument/2006/relationships/slideLayout" Target="/ppt/slideLayouts/slideLayout2.xml" Id="Rd4986bfffc0341f1" /><Relationship Type="http://schemas.openxmlformats.org/officeDocument/2006/relationships/slideLayout" Target="/ppt/slideLayouts/slideLayout3.xml" Id="R73b44b2328ba46ff" /><Relationship Type="http://schemas.openxmlformats.org/officeDocument/2006/relationships/slideLayout" Target="/ppt/slideLayouts/slideLayout4.xml" Id="Rfe74aac46d234e69" /><Relationship Type="http://schemas.openxmlformats.org/officeDocument/2006/relationships/slideLayout" Target="/ppt/slideLayouts/slideLayout5.xml" Id="R70a7a0248ec344d6" /><Relationship Type="http://schemas.openxmlformats.org/officeDocument/2006/relationships/slideLayout" Target="/ppt/slideLayouts/slideLayout6.xml" Id="R6572b57ba407442b" /><Relationship Type="http://schemas.openxmlformats.org/officeDocument/2006/relationships/slideLayout" Target="/ppt/slideLayouts/slideLayout7.xml" Id="R72236413d8e14c7c" /><Relationship Type="http://schemas.openxmlformats.org/officeDocument/2006/relationships/slideLayout" Target="/ppt/slideLayouts/slideLayout8.xml" Id="Rdfe8d01469b14b0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ec573fb31f47d3"/>
    <p:sldLayoutId xmlns:r="http://schemas.openxmlformats.org/officeDocument/2006/relationships" id="2147483650" r:id="Rd4986bfffc0341f1"/>
    <p:sldLayoutId xmlns:r="http://schemas.openxmlformats.org/officeDocument/2006/relationships" id="2147483651" r:id="R73b44b2328ba46ff"/>
    <p:sldLayoutId xmlns:r="http://schemas.openxmlformats.org/officeDocument/2006/relationships" id="2147483652" r:id="Rfe74aac46d234e69"/>
    <p:sldLayoutId xmlns:r="http://schemas.openxmlformats.org/officeDocument/2006/relationships" id="2147483653" r:id="R70a7a0248ec344d6"/>
    <p:sldLayoutId xmlns:r="http://schemas.openxmlformats.org/officeDocument/2006/relationships" id="2147483654" r:id="R6572b57ba407442b"/>
    <p:sldLayoutId xmlns:r="http://schemas.openxmlformats.org/officeDocument/2006/relationships" id="2147483655" r:id="R72236413d8e14c7c"/>
    <p:sldLayoutId xmlns:r="http://schemas.openxmlformats.org/officeDocument/2006/relationships" id="2147483656" r:id="Rdfe8d01469b14b05"/>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da0c47e5164edf" /><Relationship Type="http://schemas.openxmlformats.org/officeDocument/2006/relationships/notesSlide" Target="/ppt/notesSlides/notesSlide1.xml" Id="Rad95f8b85c1a42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e9a2e7490a4d99" /><Relationship Type="http://schemas.openxmlformats.org/officeDocument/2006/relationships/notesSlide" Target="/ppt/notesSlides/notesSlide2.xml" Id="Ra9f7e210a01a48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22e3bc19694e2a" /><Relationship Type="http://schemas.openxmlformats.org/officeDocument/2006/relationships/notesSlide" Target="/ppt/notesSlides/notesSlide3.xml" Id="R9996d977cdb44e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bde07ee4ee24d4f" /><Relationship Type="http://schemas.openxmlformats.org/officeDocument/2006/relationships/notesSlide" Target="/ppt/notesSlides/notesSlide4.xml" Id="Rf6cb20e17d8246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6c4782433a4d72" /><Relationship Type="http://schemas.openxmlformats.org/officeDocument/2006/relationships/notesSlide" Target="/ppt/notesSlides/notesSlide5.xml" Id="R15c81a45164f41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f969dd9d23e42a7" /><Relationship Type="http://schemas.openxmlformats.org/officeDocument/2006/relationships/notesSlide" Target="/ppt/notesSlides/notesSlide6.xml" Id="R8c96a9eafec248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3f6cf00f7aa4cb5" /><Relationship Type="http://schemas.openxmlformats.org/officeDocument/2006/relationships/notesSlide" Target="/ppt/notesSlides/notesSlide7.xml" Id="R02fef9e0eee747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1e3e4cfcc664284" /><Relationship Type="http://schemas.openxmlformats.org/officeDocument/2006/relationships/notesSlide" Target="/ppt/notesSlides/notesSlide8.xml" Id="R9b84c429ad264e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7f82279090e421f" /><Relationship Type="http://schemas.openxmlformats.org/officeDocument/2006/relationships/notesSlide" Target="/ppt/notesSlides/notesSlide9.xml" Id="R60320a183c9549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df33c5f0fb44c86" /><Relationship Type="http://schemas.openxmlformats.org/officeDocument/2006/relationships/notesSlide" Target="/ppt/notesSlides/notesSlide10.xml" Id="R9068548f1a3d43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aec8364a5974cfb" /><Relationship Type="http://schemas.openxmlformats.org/officeDocument/2006/relationships/notesSlide" Target="/ppt/notesSlides/notesSlide11.xml" Id="R6996dd32042348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252a85acf284a33" /><Relationship Type="http://schemas.openxmlformats.org/officeDocument/2006/relationships/notesSlide" Target="/ppt/notesSlides/notesSlide12.xml" Id="Re30f1904dd4b4cc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22c8fc01ae749eb" /><Relationship Type="http://schemas.openxmlformats.org/officeDocument/2006/relationships/notesSlide" Target="/ppt/notesSlides/notesSlide13.xml" Id="Re3907911dcfd48c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8942232dd324459" /><Relationship Type="http://schemas.openxmlformats.org/officeDocument/2006/relationships/notesSlide" Target="/ppt/notesSlides/notesSlide14.xml" Id="Rf95d6bbe602d46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92a44b4fe144594" /><Relationship Type="http://schemas.openxmlformats.org/officeDocument/2006/relationships/notesSlide" Target="/ppt/notesSlides/notesSlide15.xml" Id="R26b819fecb764dc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5c19a2483fd4e2d" /><Relationship Type="http://schemas.openxmlformats.org/officeDocument/2006/relationships/notesSlide" Target="/ppt/notesSlides/notesSlide16.xml" Id="R7b5d2c8827d74c0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b02ba28125d4819" /><Relationship Type="http://schemas.openxmlformats.org/officeDocument/2006/relationships/notesSlide" Target="/ppt/notesSlides/notesSlide17.xml" Id="R04ab78ec361842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c859c0d37e748ec" /><Relationship Type="http://schemas.openxmlformats.org/officeDocument/2006/relationships/notesSlide" Target="/ppt/notesSlides/notesSlide18.xml" Id="Rda33c00f3b02439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e2ba5ac8b3f42a4" /><Relationship Type="http://schemas.openxmlformats.org/officeDocument/2006/relationships/notesSlide" Target="/ppt/notesSlides/notesSlide19.xml" Id="R72819c30e861450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6729ce7be1f421c" /><Relationship Type="http://schemas.openxmlformats.org/officeDocument/2006/relationships/notesSlide" Target="/ppt/notesSlides/notesSlide20.xml" Id="R019c0461aef14bb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7200"/>
              <a:t>Security judgments in
agent-assisted coding</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a:noAutofit/>
          </a:bodyPr>
          <a:lstStyle xmlns:a="http://schemas.openxmlformats.org/drawingml/2006/main"/>
          <a:p xmlns:a="http://schemas.openxmlformats.org/drawingml/2006/main">
            <a:pPr>
              <a:lnSpc>
                <a:spcPct val="100000"/>
              </a:lnSpc>
              <a:buNone/>
            </a:pPr>
            <a:r>
              <a:rPr sz="1800"/>
              <a:t>Interim defense
S.P.N.P. Eshan  |  22000526  |  SCS4224
Supervisor: Dr. R.N. Rajapakse</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INTERIM DEFENSE</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393700" y="2579914"/>
            <a:ext cx="9448800" cy="3624272"/>
          </a:xfrm>
        </p:spPr>
        <p:txBody>
          <a:bodyPr xmlns:a="http://schemas.openxmlformats.org/drawingml/2006/main">
            <a:noAutofit/>
          </a:bodyPr>
          <a:lstStyle xmlns:a="http://schemas.openxmlformats.org/drawingml/2006/main"/>
          <a:p xmlns:a="http://schemas.openxmlformats.org/drawingml/2006/main">
            <a:r>
              <a:rPr sz="7200"/>
              <a:t>Can a developer feel confident</a:t>
            </a:r>
          </a:p>
          <a:p xmlns:a="http://schemas.openxmlformats.org/drawingml/2006/main">
            <a:r>
              <a:rPr sz="7200"/>
              <a:t>while insecure code survives?</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393699" y="392241"/>
            <a:ext cx="6157826"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THE RESEARCH PROBLEM</a:t>
            </a:r>
          </a:p>
        </p:txBody>
      </p:sp>
      <p:sp>
        <p:nvSpPr>
          <p:cNvPr id="8" name="Subtitle 4">
            <a:extLst xmlns:a="http://schemas.openxmlformats.org/drawingml/2006/main">
              <a:ext uri="{FF2B5EF4-FFF2-40B4-BE49-F238E27FC236}">
                <a16:creationId xmlns:a16="http://schemas.microsoft.com/office/drawing/2014/main" id="{4AE41470-6E36-D08D-AC35-CBDFACEF3DB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r">
              <a:buNone/>
            </a:pPr>
            <a:r>
              <a:rPr sz="1800"/>
              <a:t>AI-ASSISTED SECURITY</a:t>
            </a:r>
          </a:p>
        </p:txBody>
      </p:sp>
    </p:spTree>
    <p:extLst>
      <p:ext uri="{BB962C8B-B14F-4D97-AF65-F5344CB8AC3E}">
        <p14:creationId xmlns:p14="http://schemas.microsoft.com/office/powerpoint/2010/main" val="35077371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What prior studies establish</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Developer interaction</a:t>
            </a:r>
          </a:p>
          <a:p xmlns:a="http://schemas.openxmlformats.org/drawingml/2006/main">
            <a:r>
              <a:t>Barke et al. describe acceleration and exploration as purposes that can change during a task.
Brown and Wang show that reliance depends on suggestion and context.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Security and AI assistance</a:t>
            </a:r>
          </a:p>
          <a:p xmlns:a="http://schemas.openxmlformats.org/drawingml/2006/main">
            <a:r>
              <a:t>Perry et al. link AI assistance to code security and developers’ security beliefs.
Khalid et al. examine how developers evaluate insecure AI suggestions.</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7FAC9A03-119F-393D-2295-2587BE7C4F7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3FD2F4B0-1B4E-4F78-8608-85E7ADD90742}"/>
              </a:ext>
            </a:extLst>
          </p:cNvPr>
          <p:cNvSpPr>
            <a:spLocks xmlns:a="http://schemas.openxmlformats.org/drawingml/2006/main" noGrp="1"/>
          </p:cNvSpPr>
          <p:nvPr>
            <p:ph type="title" idx="0"/>
          </p:nvPr>
        </p:nvSpPr>
        <p:spPr>
          <a:xfrm xmlns:a="http://schemas.openxmlformats.org/drawingml/2006/main">
            <a:off x="393700" y="344488"/>
            <a:ext cx="11404600" cy="128303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The gap: link belief, behaviour and final code</a:t>
            </a: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Observed intent</a:t>
            </a:r>
          </a:p>
          <a:p xmlns:a="http://schemas.openxmlformats.org/drawingml/2006/main">
            <a:r>
              <a:t>Code acceleration, exploration, mixed or unclear episodes.</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Named risks</a:t>
            </a:r>
          </a:p>
          <a:p xmlns:a="http://schemas.openxmlformats.org/drawingml/2006/main">
            <a:r>
              <a:t>Assess SQL injection and path traversal in final features.</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6" name="Rounded Rectangle 5">
            <a:extLst xmlns:a="http://schemas.openxmlformats.org/drawingml/2006/main">
              <a:ext uri="{FF2B5EF4-FFF2-40B4-BE49-F238E27FC236}">
                <a16:creationId xmlns:a16="http://schemas.microsoft.com/office/drawing/2014/main" id="{CEC1020B-1BFB-C461-94A3-B04496D488AD}"/>
              </a:ext>
            </a:extLst>
          </p:cNvPr>
          <p:cNvSpPr>
            <a:spLocks xmlns:a="http://schemas.openxmlformats.org/drawingml/2006/main" noGrp="1"/>
          </p:cNvSpPr>
          <p:nvPr/>
        </p:nvSpPr>
        <p:spPr>
          <a:xfrm xmlns:a="http://schemas.openxmlformats.org/drawingml/2006/main">
            <a:off x="388306"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tent Placeholder 9">
            <a:extLst xmlns:a="http://schemas.openxmlformats.org/drawingml/2006/main">
              <a:ext uri="{FF2B5EF4-FFF2-40B4-BE49-F238E27FC236}">
                <a16:creationId xmlns:a16="http://schemas.microsoft.com/office/drawing/2014/main" id="{BF9CE9B1-F78E-2E93-3127-A76A196DCEA9}"/>
              </a:ext>
            </a:extLst>
          </p:cNvPr>
          <p:cNvSpPr>
            <a:spLocks xmlns:a="http://schemas.openxmlformats.org/drawingml/2006/main" noGrp="1"/>
          </p:cNvSpPr>
          <p:nvPr/>
        </p:nvSpPr>
        <p:spPr>
          <a:xfrm xmlns:a="http://schemas.openxmlformats.org/drawingml/2006/main">
            <a:off x="70117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Assigned encouragement</a:t>
            </a:r>
          </a:p>
          <a:p xmlns:a="http://schemas.openxmlformats.org/drawingml/2006/main">
            <a:r>
              <a:t>Compare two work orientations within each participant.</a:t>
            </a:r>
          </a:p>
        </p:txBody>
      </p:sp>
      <p:sp>
        <p:nvSpPr>
          <p:cNvPr id="8" name="Google Shape;340;p61">
            <a:extLst xmlns:a="http://schemas.openxmlformats.org/drawingml/2006/main">
              <a:ext uri="{FF2B5EF4-FFF2-40B4-BE49-F238E27FC236}">
                <a16:creationId xmlns:a16="http://schemas.microsoft.com/office/drawing/2014/main" id="{DFAB1693-7B48-B899-1715-D7B6F34DCE6C}"/>
              </a:ext>
            </a:extLst>
          </p:cNvPr>
          <p:cNvSpPr>
            <a:spLocks xmlns:a="http://schemas.openxmlformats.org/drawingml/2006/main" noGrp="1"/>
          </p:cNvSpPr>
          <p:nvPr/>
        </p:nvSpPr>
        <p:spPr>
          <a:xfrm xmlns:a="http://schemas.openxmlformats.org/drawingml/2006/main">
            <a:off x="706998"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9" name="Content Placeholder 15">
            <a:extLst xmlns:a="http://schemas.openxmlformats.org/drawingml/2006/main">
              <a:ext uri="{FF2B5EF4-FFF2-40B4-BE49-F238E27FC236}">
                <a16:creationId xmlns:a16="http://schemas.microsoft.com/office/drawing/2014/main" id="{34ED89C7-2856-344F-42B0-44B6A09E907B}"/>
              </a:ext>
            </a:extLst>
          </p:cNvPr>
          <p:cNvSpPr>
            <a:spLocks xmlns:a="http://schemas.openxmlformats.org/drawingml/2006/main" noGrp="1"/>
          </p:cNvSpPr>
          <p:nvPr/>
        </p:nvSpPr>
        <p:spPr>
          <a:xfrm xmlns:a="http://schemas.openxmlformats.org/drawingml/2006/main">
            <a:off x="393701" y="145052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One natural task trace</a:t>
            </a:r>
          </a:p>
          <a:p xmlns:a="http://schemas.openxmlformats.org/drawingml/2006/main">
            <a:r>
              <a:t>Follow the developer’s own prompts, agent changes, checks, final security estimate and submitted code in the same recorded task.</a:t>
            </a:r>
          </a:p>
        </p:txBody>
      </p:sp>
    </p:spTree>
    <p:extLst>
      <p:ext uri="{BB962C8B-B14F-4D97-AF65-F5344CB8AC3E}">
        <p14:creationId xmlns:p14="http://schemas.microsoft.com/office/powerpoint/2010/main" val="156618307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EFD6AB9A-5F9E-5F59-51AB-3C8734130965}" type="slidenum">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Four research questions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r>
              <a:rPr b="1"/>
              <a:t>RQ1  Judgment</a:t>
            </a:r>
          </a:p>
          <a:p xmlns:a="http://schemas.openxmlformats.org/drawingml/2006/main">
            <a:r>
              <a:t>Final-feature security confidence versus assessed security.</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r>
              <a:rPr b="1"/>
              <a:t>RQ2  Final code</a:t>
            </a:r>
          </a:p>
          <a:p xmlns:a="http://schemas.openxmlformats.org/drawingml/2006/main">
            <a:r>
              <a:t>Target vulnerabilities remaining in submitted features.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RQ3  Verification</a:t>
            </a:r>
          </a:p>
          <a:p xmlns:a="http://schemas.openxmlformats.org/drawingml/2006/main">
            <a:r>
              <a:t>Checks around observed integration of agent changes.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RQ4  Weakness class</a:t>
            </a:r>
          </a:p>
          <a:p xmlns:a="http://schemas.openxmlformats.org/drawingml/2006/main">
            <a:r>
              <a:t>Exploratory SQL injection versus path traversal patterns.</a:t>
            </a:r>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02BAAA24-F157-F288-22D7-97AEA157EFE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52A30403-4B2D-2E15-7A2F-51A6DF6BE5D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0A2BB6CD-1085-4638-68F3-7000FD29EA07}"/>
              </a:ext>
            </a:extLst>
          </p:cNvPr>
          <p:cNvSpPr>
            <a:spLocks xmlns:a="http://schemas.openxmlformats.org/drawingml/2006/main" noGrp="1"/>
          </p:cNvSpPr>
          <p:nvPr>
            <p:ph type="title" idx="0"/>
          </p:nvPr>
        </p:nvSpPr>
        <p:spPr>
          <a:xfrm xmlns:a="http://schemas.openxmlformats.org/drawingml/2006/main">
            <a:off x="393700" y="344488"/>
            <a:ext cx="11404600" cy="644297"/>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Within-participant natural coding design</a:t>
            </a:r>
          </a:p>
        </p:txBody>
      </p:sp>
      <p:sp>
        <p:nvSpPr>
          <p:cNvPr id="2" name="Rounded Rectangle 1">
            <a:extLst xmlns:a="http://schemas.openxmlformats.org/drawingml/2006/main">
              <a:ext uri="{FF2B5EF4-FFF2-40B4-BE49-F238E27FC236}">
                <a16:creationId xmlns:a16="http://schemas.microsoft.com/office/drawing/2014/main" id="{390FBCE0-CCE2-0D7F-19D7-0DA59E2FBD28}"/>
              </a:ext>
            </a:extLst>
          </p:cNvPr>
          <p:cNvSpPr>
            <a:spLocks xmlns:a="http://schemas.openxmlformats.org/drawingml/2006/main" noGrp="1"/>
          </p:cNvSpPr>
          <p:nvPr/>
        </p:nvSpPr>
        <p:spPr>
          <a:xfrm xmlns:a="http://schemas.openxmlformats.org/drawingml/2006/main">
            <a:off x="397013" y="3339053"/>
            <a:ext cx="5533887" cy="1320801"/>
          </a:xfrm>
          <a:prstGeom xmlns:a="http://schemas.openxmlformats.org/drawingml/2006/main" prst="roundRect">
            <a:avLst>
              <a:gd name="adj" fmla="val 0"/>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31291836-42DE-4BA2-7C66-683137F113DF}"/>
              </a:ext>
            </a:extLst>
          </p:cNvPr>
          <p:cNvSpPr>
            <a:spLocks xmlns:a="http://schemas.openxmlformats.org/drawingml/2006/main" noGrp="1"/>
          </p:cNvSpPr>
          <p:nvPr/>
        </p:nvSpPr>
        <p:spPr>
          <a:xfrm xmlns:a="http://schemas.openxmlformats.org/drawingml/2006/main">
            <a:off x="694248" y="3587937"/>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ACCELERATION
Choose the next implementation step and use the agent to execute it.</a:t>
            </a:r>
          </a:p>
        </p:txBody>
      </p:sp>
      <p:sp>
        <p:nvSpPr>
          <p:cNvPr id="4" name="Content Placeholder 15">
            <a:extLst xmlns:a="http://schemas.openxmlformats.org/drawingml/2006/main">
              <a:ext uri="{FF2B5EF4-FFF2-40B4-BE49-F238E27FC236}">
                <a16:creationId xmlns:a16="http://schemas.microsoft.com/office/drawing/2014/main" id="{3D399E38-72C8-159B-DE08-FC689A75B5E9}"/>
              </a:ext>
            </a:extLst>
          </p:cNvPr>
          <p:cNvSpPr>
            <a:spLocks xmlns:a="http://schemas.openxmlformats.org/drawingml/2006/main" noGrp="1"/>
          </p:cNvSpPr>
          <p:nvPr/>
        </p:nvSpPr>
        <p:spPr>
          <a:xfrm xmlns:a="http://schemas.openxmlformats.org/drawingml/2006/main">
            <a:off x="694248" y="4828582"/>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Human-only card</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Same security rules</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Free prompts and edits</a:t>
            </a:r>
          </a:p>
        </p:txBody>
      </p:sp>
      <p:sp>
        <p:nvSpPr>
          <p:cNvPr id="8" name="Rounded Rectangle 7">
            <a:extLst xmlns:a="http://schemas.openxmlformats.org/drawingml/2006/main">
              <a:ext uri="{FF2B5EF4-FFF2-40B4-BE49-F238E27FC236}">
                <a16:creationId xmlns:a16="http://schemas.microsoft.com/office/drawing/2014/main" id="{5E1586E9-BDFD-E84E-20C0-875E339DC80D}"/>
              </a:ext>
            </a:extLst>
          </p:cNvPr>
          <p:cNvSpPr>
            <a:spLocks xmlns:a="http://schemas.openxmlformats.org/drawingml/2006/main" noGrp="1"/>
          </p:cNvSpPr>
          <p:nvPr/>
        </p:nvSpPr>
        <p:spPr>
          <a:xfrm xmlns:a="http://schemas.openxmlformats.org/drawingml/2006/main">
            <a:off x="6260785" y="3339053"/>
            <a:ext cx="5533887" cy="1320801"/>
          </a:xfrm>
          <a:prstGeom xmlns:a="http://schemas.openxmlformats.org/drawingml/2006/main" prst="roundRect">
            <a:avLst>
              <a:gd name="adj" fmla="val 0"/>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Content Placeholder 10">
            <a:extLst xmlns:a="http://schemas.openxmlformats.org/drawingml/2006/main">
              <a:ext uri="{FF2B5EF4-FFF2-40B4-BE49-F238E27FC236}">
                <a16:creationId xmlns:a16="http://schemas.microsoft.com/office/drawing/2014/main" id="{BDE93465-12EE-49A8-048B-A3C97C2DFE3D}"/>
              </a:ext>
            </a:extLst>
          </p:cNvPr>
          <p:cNvSpPr>
            <a:spLocks xmlns:a="http://schemas.openxmlformats.org/drawingml/2006/main" noGrp="1"/>
          </p:cNvSpPr>
          <p:nvPr/>
        </p:nvSpPr>
        <p:spPr>
          <a:xfrm xmlns:a="http://schemas.openxmlformats.org/drawingml/2006/main">
            <a:off x="6558020" y="3587937"/>
            <a:ext cx="4986886" cy="87778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EXPLORATION
Use the agent to work out or compare an implementation approach.</a:t>
            </a:r>
          </a:p>
        </p:txBody>
      </p:sp>
      <p:sp>
        <p:nvSpPr>
          <p:cNvPr id="13" name="Content Placeholder 15">
            <a:extLst xmlns:a="http://schemas.openxmlformats.org/drawingml/2006/main">
              <a:ext uri="{FF2B5EF4-FFF2-40B4-BE49-F238E27FC236}">
                <a16:creationId xmlns:a16="http://schemas.microsoft.com/office/drawing/2014/main" id="{0F1EA821-AA26-C1FC-F948-D100ABDE2920}"/>
              </a:ext>
            </a:extLst>
          </p:cNvPr>
          <p:cNvSpPr>
            <a:spLocks xmlns:a="http://schemas.openxmlformats.org/drawingml/2006/main" noGrp="1"/>
          </p:cNvSpPr>
          <p:nvPr/>
        </p:nvSpPr>
        <p:spPr>
          <a:xfrm xmlns:a="http://schemas.openxmlformats.org/drawingml/2006/main">
            <a:off x="6558020" y="4828582"/>
            <a:ext cx="5236652" cy="9779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Human-only card</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Same security rules</a:t>
            </a:r>
          </a:p>
          <a:p xmlns:a="http://schemas.openxmlformats.org/drawingml/2006/main">
            <a:pPr marL="228600" lvl="0" indent="-228600">
              <a:lnSpc>
                <a:spcPct val="114000"/>
              </a:lnSpc>
              <a:spcBef>
                <a:spcPts val="0"/>
              </a:spcBef>
              <a:spcAft>
                <a:spcPts val="600"/>
              </a:spcAft>
              <a:buFont typeface="Arial"/>
              <a:buChar char="•"/>
            </a:pPr>
            <a:r>
              <a:rPr sz="1400">
                <a:solidFill>
                  <a:prstClr val="black"/>
                </a:solidFill>
                <a:latin typeface="Helvetica Neue"/>
                <a:ea typeface="Helvetica Neue"/>
                <a:cs typeface="Helvetica Neue"/>
              </a:rPr>
              <a:t>Free prompts and edits</a:t>
            </a:r>
          </a:p>
        </p:txBody>
      </p:sp>
      <p:sp>
        <p:nvSpPr>
          <p:cNvPr id="14" name="Content Placeholder 15">
            <a:extLst xmlns:a="http://schemas.openxmlformats.org/drawingml/2006/main">
              <a:ext uri="{FF2B5EF4-FFF2-40B4-BE49-F238E27FC236}">
                <a16:creationId xmlns:a16="http://schemas.microsoft.com/office/drawing/2014/main" id="{53566714-9098-3B48-6D62-954DC695F743}"/>
              </a:ext>
            </a:extLst>
          </p:cNvPr>
          <p:cNvSpPr>
            <a:spLocks xmlns:a="http://schemas.openxmlformats.org/drawingml/2006/main" noGrp="1"/>
          </p:cNvSpPr>
          <p:nvPr/>
        </p:nvSpPr>
        <p:spPr>
          <a:xfrm xmlns:a="http://schemas.openxmlformats.org/drawingml/2006/main">
            <a:off x="400939" y="115751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Same participant, two orientations</a:t>
            </a:r>
          </a:p>
          <a:p xmlns:a="http://schemas.openxmlformats.org/drawingml/2006/main">
            <a:r>
              <a:t>Each early-career developer completes two JavaScript projects with a coding agent: one under acceleration and one under exploration encouragement.</a:t>
            </a:r>
          </a:p>
        </p:txBody>
      </p:sp>
    </p:spTree>
    <p:extLst>
      <p:ext uri="{BB962C8B-B14F-4D97-AF65-F5344CB8AC3E}">
        <p14:creationId xmlns:p14="http://schemas.microsoft.com/office/powerpoint/2010/main" val="34624586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 name="Footer Placeholder 10">
            <a:extLst xmlns:a="http://schemas.openxmlformats.org/drawingml/2006/main">
              <a:ext uri="{FF2B5EF4-FFF2-40B4-BE49-F238E27FC236}">
                <a16:creationId xmlns:a16="http://schemas.microsoft.com/office/drawing/2014/main" id="{C4B207BF-6BAB-0D91-F12C-1E6FFBCC420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AA5CCC43-8737-3A41-CAE5-94B8C1D29B5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8B77B614-E3C4-8964-0877-92800631D48F}"/>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Project and order balance</a:t>
            </a:r>
          </a:p>
        </p:txBody>
      </p:sp>
      <p:sp>
        <p:nvSpPr>
          <p:cNvPr id="7" name="Rounded Rectangle 6">
            <a:extLst xmlns:a="http://schemas.openxmlformats.org/drawingml/2006/main">
              <a:ext uri="{FF2B5EF4-FFF2-40B4-BE49-F238E27FC236}">
                <a16:creationId xmlns:a16="http://schemas.microsoft.com/office/drawing/2014/main" id="{24774D92-572F-796B-CFA0-75F5BDE34DE7}"/>
              </a:ext>
            </a:extLst>
          </p:cNvPr>
          <p:cNvSpPr>
            <a:spLocks xmlns:a="http://schemas.openxmlformats.org/drawingml/2006/main" noGrp="1"/>
          </p:cNvSpPr>
          <p:nvPr/>
        </p:nvSpPr>
        <p:spPr>
          <a:xfrm xmlns:a="http://schemas.openxmlformats.org/drawingml/2006/main">
            <a:off x="6264412" y="2369856"/>
            <a:ext cx="5533887" cy="16383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C0439ECA-9193-112F-E7E6-326447CEF7EB}"/>
              </a:ext>
            </a:extLst>
          </p:cNvPr>
          <p:cNvSpPr>
            <a:spLocks xmlns:a="http://schemas.openxmlformats.org/drawingml/2006/main" noGrp="1"/>
          </p:cNvSpPr>
          <p:nvPr/>
        </p:nvSpPr>
        <p:spPr>
          <a:xfrm xmlns:a="http://schemas.openxmlformats.org/drawingml/2006/main">
            <a:off x="6561647" y="2664788"/>
            <a:ext cx="4986886" cy="1048436"/>
          </a:xfrm>
          <a:prstGeom xmlns:a="http://schemas.openxmlformats.org/drawingml/2006/main" prst="rect">
            <a:avLst/>
          </a:prstGeom>
        </p:spPr>
        <p:txBody>
          <a:bodyPr xmlns:a="http://schemas.openxmlformats.org/drawingml/2006/main" vert="horz" lIns="0" tIns="0" rIns="0" bIns="0">
            <a:normAutofit fontScale="93305"/>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Sequence 2</a:t>
            </a:r>
          </a:p>
          <a:p xmlns:a="http://schemas.openxmlformats.org/drawingml/2006/main">
            <a:r>
              <a:t>A + exploration first
B + acceleration second</a:t>
            </a:r>
          </a:p>
        </p:txBody>
      </p:sp>
      <p:sp>
        <p:nvSpPr>
          <p:cNvPr id="9" name="Rounded Rectangle 8">
            <a:extLst xmlns:a="http://schemas.openxmlformats.org/drawingml/2006/main">
              <a:ext uri="{FF2B5EF4-FFF2-40B4-BE49-F238E27FC236}">
                <a16:creationId xmlns:a16="http://schemas.microsoft.com/office/drawing/2014/main" id="{BED27E76-B721-E464-2478-718E91A649B4}"/>
              </a:ext>
            </a:extLst>
          </p:cNvPr>
          <p:cNvSpPr>
            <a:spLocks xmlns:a="http://schemas.openxmlformats.org/drawingml/2006/main" noGrp="1"/>
          </p:cNvSpPr>
          <p:nvPr/>
        </p:nvSpPr>
        <p:spPr>
          <a:xfrm xmlns:a="http://schemas.openxmlformats.org/drawingml/2006/main">
            <a:off x="409043" y="2369856"/>
            <a:ext cx="5533887" cy="16383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tent Placeholder 10">
            <a:extLst xmlns:a="http://schemas.openxmlformats.org/drawingml/2006/main">
              <a:ext uri="{FF2B5EF4-FFF2-40B4-BE49-F238E27FC236}">
                <a16:creationId xmlns:a16="http://schemas.microsoft.com/office/drawing/2014/main" id="{40DA34A0-E630-37E8-0332-0E57245DCF0D}"/>
              </a:ext>
            </a:extLst>
          </p:cNvPr>
          <p:cNvSpPr>
            <a:spLocks xmlns:a="http://schemas.openxmlformats.org/drawingml/2006/main" noGrp="1"/>
          </p:cNvSpPr>
          <p:nvPr/>
        </p:nvSpPr>
        <p:spPr>
          <a:xfrm xmlns:a="http://schemas.openxmlformats.org/drawingml/2006/main">
            <a:off x="706278" y="2664788"/>
            <a:ext cx="4986886" cy="1048436"/>
          </a:xfrm>
          <a:prstGeom xmlns:a="http://schemas.openxmlformats.org/drawingml/2006/main" prst="rect">
            <a:avLst/>
          </a:prstGeom>
        </p:spPr>
        <p:txBody>
          <a:bodyPr xmlns:a="http://schemas.openxmlformats.org/drawingml/2006/main" vert="horz" lIns="0" tIns="0" rIns="0" bIns="0">
            <a:normAutofit fontScale="93305"/>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Sequence 1</a:t>
            </a:r>
          </a:p>
          <a:p xmlns:a="http://schemas.openxmlformats.org/drawingml/2006/main">
            <a:r>
              <a:t>A + acceleration first
B + exploration second</a:t>
            </a:r>
          </a:p>
        </p:txBody>
      </p:sp>
      <p:sp>
        <p:nvSpPr>
          <p:cNvPr id="2" name="Rounded Rectangle 1">
            <a:extLst xmlns:a="http://schemas.openxmlformats.org/drawingml/2006/main">
              <a:ext uri="{FF2B5EF4-FFF2-40B4-BE49-F238E27FC236}">
                <a16:creationId xmlns:a16="http://schemas.microsoft.com/office/drawing/2014/main" id="{F421FB3D-82DC-94B6-ADD3-99BB3C8E58D0}"/>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tent Placeholder 10">
            <a:extLst xmlns:a="http://schemas.openxmlformats.org/drawingml/2006/main">
              <a:ext uri="{FF2B5EF4-FFF2-40B4-BE49-F238E27FC236}">
                <a16:creationId xmlns:a16="http://schemas.microsoft.com/office/drawing/2014/main" id="{9122C651-AF0B-D7E1-E9EF-3F4BC1C587A5}"/>
              </a:ext>
            </a:extLst>
          </p:cNvPr>
          <p:cNvSpPr>
            <a:spLocks xmlns:a="http://schemas.openxmlformats.org/drawingml/2006/main" noGrp="1"/>
          </p:cNvSpPr>
          <p:nvPr/>
        </p:nvSpPr>
        <p:spPr>
          <a:xfrm xmlns:a="http://schemas.openxmlformats.org/drawingml/2006/main">
            <a:off x="6561647" y="4665038"/>
            <a:ext cx="4986886" cy="1048436"/>
          </a:xfrm>
          <a:prstGeom xmlns:a="http://schemas.openxmlformats.org/drawingml/2006/main" prst="rect">
            <a:avLst/>
          </a:prstGeom>
        </p:spPr>
        <p:txBody>
          <a:bodyPr xmlns:a="http://schemas.openxmlformats.org/drawingml/2006/main" vert="horz" lIns="0" tIns="0" rIns="0" bIns="0">
            <a:normAutofit fontScale="93305"/>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Sequence 4</a:t>
            </a:r>
          </a:p>
          <a:p xmlns:a="http://schemas.openxmlformats.org/drawingml/2006/main">
            <a:r>
              <a:t>B + exploration first
A + acceleration second</a:t>
            </a:r>
          </a:p>
        </p:txBody>
      </p:sp>
      <p:sp>
        <p:nvSpPr>
          <p:cNvPr id="4" name="Rounded Rectangle 3">
            <a:extLst xmlns:a="http://schemas.openxmlformats.org/drawingml/2006/main">
              <a:ext uri="{FF2B5EF4-FFF2-40B4-BE49-F238E27FC236}">
                <a16:creationId xmlns:a16="http://schemas.microsoft.com/office/drawing/2014/main" id="{EDA590ED-3B5F-06BC-B0E9-C6DC4E8BBF0C}"/>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Content Placeholder 10">
            <a:extLst xmlns:a="http://schemas.openxmlformats.org/drawingml/2006/main">
              <a:ext uri="{FF2B5EF4-FFF2-40B4-BE49-F238E27FC236}">
                <a16:creationId xmlns:a16="http://schemas.microsoft.com/office/drawing/2014/main" id="{EB1BBBB3-DA5C-C3DF-7DD6-33AB7A85340B}"/>
              </a:ext>
            </a:extLst>
          </p:cNvPr>
          <p:cNvSpPr>
            <a:spLocks xmlns:a="http://schemas.openxmlformats.org/drawingml/2006/main" noGrp="1"/>
          </p:cNvSpPr>
          <p:nvPr/>
        </p:nvSpPr>
        <p:spPr>
          <a:xfrm xmlns:a="http://schemas.openxmlformats.org/drawingml/2006/main">
            <a:off x="706278" y="4665038"/>
            <a:ext cx="4986886" cy="1048436"/>
          </a:xfrm>
          <a:prstGeom xmlns:a="http://schemas.openxmlformats.org/drawingml/2006/main" prst="rect">
            <a:avLst/>
          </a:prstGeom>
        </p:spPr>
        <p:txBody>
          <a:bodyPr xmlns:a="http://schemas.openxmlformats.org/drawingml/2006/main" vert="horz" lIns="0" tIns="0" rIns="0" bIns="0">
            <a:normAutofit fontScale="93305"/>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Sequence 3</a:t>
            </a:r>
          </a:p>
          <a:p xmlns:a="http://schemas.openxmlformats.org/drawingml/2006/main">
            <a:r>
              <a:t>B + acceleration first
A + exploration second</a:t>
            </a:r>
          </a:p>
        </p:txBody>
      </p:sp>
      <p:sp>
        <p:nvSpPr>
          <p:cNvPr id="6" name="Content Placeholder 15">
            <a:extLst xmlns:a="http://schemas.openxmlformats.org/drawingml/2006/main">
              <a:ext uri="{FF2B5EF4-FFF2-40B4-BE49-F238E27FC236}">
                <a16:creationId xmlns:a16="http://schemas.microsoft.com/office/drawing/2014/main" id="{04E6B723-686B-D8DD-4DA5-3E62BDE4905A}"/>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Four sequences</a:t>
            </a:r>
          </a:p>
          <a:p xmlns:a="http://schemas.openxmlformats.org/drawingml/2006/main">
            <a:r>
              <a:t>Project A and Project B each appear with both conditions and in both task positions. The portal reserves a seeded balanced allocation; realized assignments still require audit.</a:t>
            </a:r>
          </a:p>
        </p:txBody>
      </p:sp>
    </p:spTree>
    <p:extLst>
      <p:ext uri="{BB962C8B-B14F-4D97-AF65-F5344CB8AC3E}">
        <p14:creationId xmlns:p14="http://schemas.microsoft.com/office/powerpoint/2010/main" val="176600024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D3D7D1C8-AE23-AA48-DF65-C742588DBE47}" type="slidenum">
              <a:t>7</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Participant session</a:t>
            </a:r>
          </a:p>
        </p:txBody>
      </p:sp>
      <p:cxnSp>
        <p:nvCxnSpPr>
          <p:cNvPr id="23"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START</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TASKS</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END</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Two free coding tasks</a:t>
            </a:r>
          </a:p>
          <a:p xmlns:a="http://schemas.openxmlformats.org/drawingml/2006/main">
            <a:r>
              <a:t>Code freely in two projects. Capture the work and rate each final feature.</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Consent and practice</a:t>
            </a:r>
          </a:p>
          <a:p xmlns:a="http://schemas.openxmlformats.org/drawingml/2006/main">
            <a:r>
              <a:t>Record background and agent experience; practise on an unrelated task.</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Replay interview</a:t>
            </a:r>
          </a:p>
          <a:p xmlns:a="http://schemas.openxmlformats.org/drawingml/2006/main">
            <a:r>
              <a:t>Replay selected moments before security feedback, then debrief.</a:t>
            </a:r>
          </a:p>
        </p:txBody>
      </p:sp>
    </p:spTree>
    <p:extLst>
      <p:ext uri="{BB962C8B-B14F-4D97-AF65-F5344CB8AC3E}">
        <p14:creationId xmlns:p14="http://schemas.microsoft.com/office/powerpoint/2010/main" val="34463389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BA58DA2A-B818-18A9-29C1-B697728D5BCE}" type="slidenum">
              <a:t>8</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Tasks and security opportunities</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b="1"/>
              <a:t>Project A</a:t>
            </a:r>
          </a:p>
          <a:p xmlns:a="http://schemas.openxmlformats.org/drawingml/2006/main">
            <a:r>
              <a:t>Resource catalogue
Small JavaScript/Node feature work with SQL and file-path operations.</a:t>
            </a: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fontScale="100000"/>
          </a:bodyPr>
          <a:lstStyle xmlns:a="http://schemas.openxmlformats.org/drawingml/2006/main"/>
          <a:p xmlns:a="http://schemas.openxmlformats.org/drawingml/2006/main">
            <a:r>
              <a:rPr b="1"/>
              <a:t>Shared controls</a:t>
            </a:r>
          </a:p>
          <a:p xmlns:a="http://schemas.openxmlformats.org/drawingml/2006/main">
            <a:r>
              <a:t>Each task gives explicit functional and security criteria. Normal and attack tests assess the named risks.</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fontScale="100000"/>
          </a:bodyPr>
          <a:lstStyle xmlns:a="http://schemas.openxmlformats.org/drawingml/2006/main"/>
          <a:p xmlns:a="http://schemas.openxmlformats.org/drawingml/2006/main">
            <a:r>
              <a:rPr b="1"/>
              <a:t>Project B</a:t>
            </a:r>
          </a:p>
          <a:p xmlns:a="http://schemas.openxmlformats.org/drawingml/2006/main">
            <a:r>
              <a:t>Support archive
A different repository with the same workload shape and target weakness classes.</a:t>
            </a:r>
          </a:p>
        </p:txBody>
      </p:sp>
    </p:spTree>
    <p:extLst>
      <p:ext uri="{BB962C8B-B14F-4D97-AF65-F5344CB8AC3E}">
        <p14:creationId xmlns:p14="http://schemas.microsoft.com/office/powerpoint/2010/main" val="139345699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3F6F69E-B773-8572-FA7F-ECBC69775926}"/>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671F7CA-962E-B7D5-11E1-86144832BC77}"/>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16</a:t>
            </a:fld>
            <a:endParaRPr/>
          </a:p>
        </p:txBody>
      </p:sp>
      <p:sp>
        <p:nvSpPr>
          <p:cNvPr id="11" name="Title 10">
            <a:extLst xmlns:a="http://schemas.openxmlformats.org/drawingml/2006/main">
              <a:ext uri="{FF2B5EF4-FFF2-40B4-BE49-F238E27FC236}">
                <a16:creationId xmlns:a16="http://schemas.microsoft.com/office/drawing/2014/main" id="{EE0017B1-61AD-F17E-4365-4C53665026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Natural task: from prompt to final evidence</a:t>
            </a:r>
          </a:p>
        </p:txBody>
      </p:sp>
      <p:sp>
        <p:nvSpPr>
          <p:cNvPr id="2" name="Content Placeholder 15">
            <a:extLst xmlns:a="http://schemas.openxmlformats.org/drawingml/2006/main">
              <a:ext uri="{FF2B5EF4-FFF2-40B4-BE49-F238E27FC236}">
                <a16:creationId xmlns:a16="http://schemas.microsoft.com/office/drawing/2014/main" id="{618AB53F-D83E-C97D-48FB-E643E6A74AF5}"/>
              </a:ext>
            </a:extLst>
          </p:cNvPr>
          <p:cNvSpPr>
            <a:spLocks xmlns:a="http://schemas.openxmlformats.org/drawingml/2006/main" noGrp="1"/>
          </p:cNvSpPr>
          <p:nvPr/>
        </p:nvSpPr>
        <p:spPr>
          <a:xfrm xmlns:a="http://schemas.openxmlformats.org/drawingml/2006/main">
            <a:off x="393700"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5 · Submit</a:t>
            </a:r>
          </a:p>
          <a:p xmlns:a="http://schemas.openxmlformats.org/drawingml/2006/main">
            <a:r>
              <a:t>Save exact final code snapshot</a:t>
            </a:r>
          </a:p>
        </p:txBody>
      </p:sp>
      <p:sp>
        <p:nvSpPr>
          <p:cNvPr id="3" name="Text Placeholder 16">
            <a:extLst xmlns:a="http://schemas.openxmlformats.org/drawingml/2006/main">
              <a:ext uri="{FF2B5EF4-FFF2-40B4-BE49-F238E27FC236}">
                <a16:creationId xmlns:a16="http://schemas.microsoft.com/office/drawing/2014/main" id="{15B6FC25-43EA-8D50-20ED-40A075FCB304}"/>
              </a:ext>
            </a:extLst>
          </p:cNvPr>
          <p:cNvSpPr>
            <a:spLocks xmlns:a="http://schemas.openxmlformats.org/drawingml/2006/main" noGrp="1"/>
          </p:cNvSpPr>
          <p:nvPr/>
        </p:nvSpPr>
        <p:spPr>
          <a:xfrm xmlns:a="http://schemas.openxmlformats.org/drawingml/2006/main">
            <a:off x="3334966"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6 · Rate</a:t>
            </a:r>
          </a:p>
          <a:p xmlns:a="http://schemas.openxmlformats.org/drawingml/2006/main">
            <a:r>
              <a:t>Estimate SQL and path security</a:t>
            </a:r>
          </a:p>
        </p:txBody>
      </p:sp>
      <p:sp>
        <p:nvSpPr>
          <p:cNvPr id="5" name="Content Placeholder 17">
            <a:extLst xmlns:a="http://schemas.openxmlformats.org/drawingml/2006/main">
              <a:ext uri="{FF2B5EF4-FFF2-40B4-BE49-F238E27FC236}">
                <a16:creationId xmlns:a16="http://schemas.microsoft.com/office/drawing/2014/main" id="{DC86E5BF-3A43-49E0-A1B8-916150355914}"/>
              </a:ext>
            </a:extLst>
          </p:cNvPr>
          <p:cNvSpPr>
            <a:spLocks xmlns:a="http://schemas.openxmlformats.org/drawingml/2006/main" noGrp="1"/>
          </p:cNvSpPr>
          <p:nvPr/>
        </p:nvSpPr>
        <p:spPr>
          <a:xfrm xmlns:a="http://schemas.openxmlformats.org/drawingml/2006/main">
            <a:off x="6264413"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7 · Transfer</a:t>
            </a:r>
          </a:p>
          <a:p xmlns:a="http://schemas.openxmlformats.org/drawingml/2006/main">
            <a:r>
              <a:t>Upload linked evidence and complete form</a:t>
            </a:r>
          </a:p>
        </p:txBody>
      </p:sp>
      <p:sp>
        <p:nvSpPr>
          <p:cNvPr id="6" name="Text Placeholder 18">
            <a:extLst xmlns:a="http://schemas.openxmlformats.org/drawingml/2006/main">
              <a:ext uri="{FF2B5EF4-FFF2-40B4-BE49-F238E27FC236}">
                <a16:creationId xmlns:a16="http://schemas.microsoft.com/office/drawing/2014/main" id="{941D607D-4DDA-372A-EE8A-A370B36C7859}"/>
              </a:ext>
            </a:extLst>
          </p:cNvPr>
          <p:cNvSpPr>
            <a:spLocks xmlns:a="http://schemas.openxmlformats.org/drawingml/2006/main" noGrp="1"/>
          </p:cNvSpPr>
          <p:nvPr/>
        </p:nvSpPr>
        <p:spPr>
          <a:xfrm xmlns:a="http://schemas.openxmlformats.org/drawingml/2006/main">
            <a:off x="9205679" y="4161066"/>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8 · Replay</a:t>
            </a:r>
          </a:p>
          <a:p xmlns:a="http://schemas.openxmlformats.org/drawingml/2006/main">
            <a:r>
              <a:t>Discuss selected real decisions</a:t>
            </a:r>
          </a:p>
        </p:txBody>
      </p:sp>
      <p:sp>
        <p:nvSpPr>
          <p:cNvPr id="28" name="Content Placeholder 15">
            <a:extLst xmlns:a="http://schemas.openxmlformats.org/drawingml/2006/main">
              <a:ext uri="{FF2B5EF4-FFF2-40B4-BE49-F238E27FC236}">
                <a16:creationId xmlns:a16="http://schemas.microsoft.com/office/drawing/2014/main" id="{8EA52868-2F57-DCC5-19D5-764181B94516}"/>
              </a:ext>
            </a:extLst>
          </p:cNvPr>
          <p:cNvSpPr>
            <a:spLocks xmlns:a="http://schemas.openxmlformats.org/drawingml/2006/main" noGrp="1"/>
          </p:cNvSpPr>
          <p:nvPr/>
        </p:nvSpPr>
        <p:spPr>
          <a:xfrm xmlns:a="http://schemas.openxmlformats.org/drawingml/2006/main">
            <a:off x="393700"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1 · Portal</a:t>
            </a:r>
          </a:p>
          <a:p xmlns:a="http://schemas.openxmlformats.org/drawingml/2006/main">
            <a:r>
              <a:t>Read human-only condition card</a:t>
            </a:r>
          </a:p>
        </p:txBody>
      </p:sp>
      <p:sp>
        <p:nvSpPr>
          <p:cNvPr id="29" name="Text Placeholder 16">
            <a:extLst xmlns:a="http://schemas.openxmlformats.org/drawingml/2006/main">
              <a:ext uri="{FF2B5EF4-FFF2-40B4-BE49-F238E27FC236}">
                <a16:creationId xmlns:a16="http://schemas.microsoft.com/office/drawing/2014/main" id="{751AE029-57A0-A186-E791-1A4462A1CBCB}"/>
              </a:ext>
            </a:extLst>
          </p:cNvPr>
          <p:cNvSpPr>
            <a:spLocks xmlns:a="http://schemas.openxmlformats.org/drawingml/2006/main" noGrp="1"/>
          </p:cNvSpPr>
          <p:nvPr/>
        </p:nvSpPr>
        <p:spPr>
          <a:xfrm xmlns:a="http://schemas.openxmlformats.org/drawingml/2006/main">
            <a:off x="3334966"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2 · Workspace</a:t>
            </a:r>
          </a:p>
          <a:p xmlns:a="http://schemas.openxmlformats.org/drawingml/2006/main">
            <a:r>
              <a:t>Open fresh project and conversation</a:t>
            </a:r>
          </a:p>
        </p:txBody>
      </p:sp>
      <p:sp>
        <p:nvSpPr>
          <p:cNvPr id="30" name="Content Placeholder 17">
            <a:extLst xmlns:a="http://schemas.openxmlformats.org/drawingml/2006/main">
              <a:ext uri="{FF2B5EF4-FFF2-40B4-BE49-F238E27FC236}">
                <a16:creationId xmlns:a16="http://schemas.microsoft.com/office/drawing/2014/main" id="{84CDE6A4-554E-3362-3E09-93D47FDCD65A}"/>
              </a:ext>
            </a:extLst>
          </p:cNvPr>
          <p:cNvSpPr>
            <a:spLocks xmlns:a="http://schemas.openxmlformats.org/drawingml/2006/main" noGrp="1"/>
          </p:cNvSpPr>
          <p:nvPr/>
        </p:nvSpPr>
        <p:spPr>
          <a:xfrm xmlns:a="http://schemas.openxmlformats.org/drawingml/2006/main">
            <a:off x="6264413"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3 · Capture</a:t>
            </a:r>
          </a:p>
          <a:p xmlns:a="http://schemas.openxmlformats.org/drawingml/2006/main">
            <a:r>
              <a:t>Start screen, transcript and code watcher</a:t>
            </a:r>
          </a:p>
        </p:txBody>
      </p:sp>
      <p:sp>
        <p:nvSpPr>
          <p:cNvPr id="31" name="Text Placeholder 18">
            <a:extLst xmlns:a="http://schemas.openxmlformats.org/drawingml/2006/main">
              <a:ext uri="{FF2B5EF4-FFF2-40B4-BE49-F238E27FC236}">
                <a16:creationId xmlns:a16="http://schemas.microsoft.com/office/drawing/2014/main" id="{E0575F69-0E47-58CD-4D15-A728423F7253}"/>
              </a:ext>
            </a:extLst>
          </p:cNvPr>
          <p:cNvSpPr>
            <a:spLocks xmlns:a="http://schemas.openxmlformats.org/drawingml/2006/main" noGrp="1"/>
          </p:cNvSpPr>
          <p:nvPr/>
        </p:nvSpPr>
        <p:spPr>
          <a:xfrm xmlns:a="http://schemas.openxmlformats.org/drawingml/2006/main">
            <a:off x="9205679" y="2208087"/>
            <a:ext cx="2595934" cy="141564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8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8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8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8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4 · Code</a:t>
            </a:r>
          </a:p>
          <a:p xmlns:a="http://schemas.openxmlformats.org/drawingml/2006/main">
            <a:r>
              <a:t>Prompt, inspect, test, edit or reject freely</a:t>
            </a:r>
          </a:p>
        </p:txBody>
      </p:sp>
    </p:spTree>
    <p:extLst>
      <p:ext uri="{BB962C8B-B14F-4D97-AF65-F5344CB8AC3E}">
        <p14:creationId xmlns:p14="http://schemas.microsoft.com/office/powerpoint/2010/main" val="34307893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7FAC9A03-119F-393D-2295-2587BE7C4F7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B7BEEEC-A170-5376-2B6E-CB54687B0CB1}" type="slidenum">
              <a:t>10</a:t>
            </a:fld>
            <a:endParaRPr/>
          </a:p>
        </p:txBody>
      </p:sp>
      <p:sp>
        <p:nvSpPr>
          <p:cNvPr id="533" name="Google Shape;533;p58">
            <a:extLst xmlns:a="http://schemas.openxmlformats.org/drawingml/2006/main">
              <a:ext uri="{FF2B5EF4-FFF2-40B4-BE49-F238E27FC236}">
                <a16:creationId xmlns:a16="http://schemas.microsoft.com/office/drawing/2014/main" id="{3FD2F4B0-1B4E-4F78-8608-85E7ADD90742}"/>
              </a:ext>
            </a:extLst>
          </p:cNvPr>
          <p:cNvSpPr>
            <a:spLocks xmlns:a="http://schemas.openxmlformats.org/drawingml/2006/main" noGrp="1"/>
          </p:cNvSpPr>
          <p:nvPr>
            <p:ph type="title" idx="0"/>
          </p:nvPr>
        </p:nvSpPr>
        <p:spPr>
          <a:xfrm xmlns:a="http://schemas.openxmlformats.org/drawingml/2006/main">
            <a:off x="393700" y="344488"/>
            <a:ext cx="11404600" cy="1283032"/>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What counts as integration and checking</a:t>
            </a: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After application</a:t>
            </a:r>
          </a:p>
          <a:p xmlns:a="http://schemas.openxmlformats.org/drawingml/2006/main">
            <a:r>
              <a:t>Code or diff inspection and checks are coded from evidence.</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At final snapshot</a:t>
            </a:r>
          </a:p>
          <a:p xmlns:a="http://schemas.openxmlformats.org/drawingml/2006/main">
            <a:r>
              <a:t>Rate final SQL and path features, then assess blind.</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6" name="Rounded Rectangle 5">
            <a:extLst xmlns:a="http://schemas.openxmlformats.org/drawingml/2006/main">
              <a:ext uri="{FF2B5EF4-FFF2-40B4-BE49-F238E27FC236}">
                <a16:creationId xmlns:a16="http://schemas.microsoft.com/office/drawing/2014/main" id="{CEC1020B-1BFB-C461-94A3-B04496D488AD}"/>
              </a:ext>
            </a:extLst>
          </p:cNvPr>
          <p:cNvSpPr>
            <a:spLocks xmlns:a="http://schemas.openxmlformats.org/drawingml/2006/main" noGrp="1"/>
          </p:cNvSpPr>
          <p:nvPr/>
        </p:nvSpPr>
        <p:spPr>
          <a:xfrm xmlns:a="http://schemas.openxmlformats.org/drawingml/2006/main">
            <a:off x="388306" y="3365501"/>
            <a:ext cx="3568700" cy="26289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tent Placeholder 9">
            <a:extLst xmlns:a="http://schemas.openxmlformats.org/drawingml/2006/main">
              <a:ext uri="{FF2B5EF4-FFF2-40B4-BE49-F238E27FC236}">
                <a16:creationId xmlns:a16="http://schemas.microsoft.com/office/drawing/2014/main" id="{BF9CE9B1-F78E-2E93-3127-A76A196DCEA9}"/>
              </a:ext>
            </a:extLst>
          </p:cNvPr>
          <p:cNvSpPr>
            <a:spLocks xmlns:a="http://schemas.openxmlformats.org/drawingml/2006/main" noGrp="1"/>
          </p:cNvSpPr>
          <p:nvPr/>
        </p:nvSpPr>
        <p:spPr>
          <a:xfrm xmlns:a="http://schemas.openxmlformats.org/drawingml/2006/main">
            <a:off x="70117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Before application</a:t>
            </a:r>
          </a:p>
          <a:p xmlns:a="http://schemas.openxmlformats.org/drawingml/2006/main">
            <a:r>
              <a:t>Prompts and discussion show implementation intent.</a:t>
            </a:r>
          </a:p>
        </p:txBody>
      </p:sp>
      <p:sp>
        <p:nvSpPr>
          <p:cNvPr id="8" name="Google Shape;340;p61">
            <a:extLst xmlns:a="http://schemas.openxmlformats.org/drawingml/2006/main">
              <a:ext uri="{FF2B5EF4-FFF2-40B4-BE49-F238E27FC236}">
                <a16:creationId xmlns:a16="http://schemas.microsoft.com/office/drawing/2014/main" id="{DFAB1693-7B48-B899-1715-D7B6F34DCE6C}"/>
              </a:ext>
            </a:extLst>
          </p:cNvPr>
          <p:cNvSpPr>
            <a:spLocks xmlns:a="http://schemas.openxmlformats.org/drawingml/2006/main" noGrp="1"/>
          </p:cNvSpPr>
          <p:nvPr/>
        </p:nvSpPr>
        <p:spPr>
          <a:xfrm xmlns:a="http://schemas.openxmlformats.org/drawingml/2006/main">
            <a:off x="706998"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9" name="Content Placeholder 15">
            <a:extLst xmlns:a="http://schemas.openxmlformats.org/drawingml/2006/main">
              <a:ext uri="{FF2B5EF4-FFF2-40B4-BE49-F238E27FC236}">
                <a16:creationId xmlns:a16="http://schemas.microsoft.com/office/drawing/2014/main" id="{34ED89C7-2856-344F-42B0-44B6A09E907B}"/>
              </a:ext>
            </a:extLst>
          </p:cNvPr>
          <p:cNvSpPr>
            <a:spLocks xmlns:a="http://schemas.openxmlformats.org/drawingml/2006/main" noGrp="1"/>
          </p:cNvSpPr>
          <p:nvPr/>
        </p:nvSpPr>
        <p:spPr>
          <a:xfrm xmlns:a="http://schemas.openxmlformats.org/drawingml/2006/main">
            <a:off x="393701" y="1450523"/>
            <a:ext cx="11404599" cy="162922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Do not equate an agent edit with human acceptance</a:t>
            </a:r>
          </a:p>
          <a:p xmlns:a="http://schemas.openxmlformats.org/drawingml/2006/main">
            <a:r>
              <a:t>Trace each material agent change through visible inspection, continuation, explicit endorsement if present, repair or replacement, and final survival.</a:t>
            </a:r>
          </a:p>
        </p:txBody>
      </p:sp>
    </p:spTree>
    <p:extLst>
      <p:ext uri="{BB962C8B-B14F-4D97-AF65-F5344CB8AC3E}">
        <p14:creationId xmlns:p14="http://schemas.microsoft.com/office/powerpoint/2010/main" val="156618307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Security truth comes from final code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Functional and target-security review</a:t>
            </a:r>
          </a:p>
          <a:p xmlns:a="http://schemas.openxmlformats.org/drawingml/2006/main">
            <a:r>
              <a:t>Test each actual submitted SQL and path feature, including bounded attack cases; two blinded reviewers inspect final snapshots.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Natural exposure is conditional</a:t>
            </a:r>
          </a:p>
          <a:p xmlns:a="http://schemas.openxmlformats.org/drawingml/2006/main">
            <a:r>
              <a:t>Trace an agent-origin weakness only if it actually appeared. If none is observed, vulnerability survival cannot be estimated.</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4DB16885-0D3F-A391-B669-3211DB3B26E8}" type="slidenum">
              <a:t>12</a:t>
            </a:fld>
            <a:endParaRP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Evidence linked by task and final hash</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3700" y="172243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a:latin typeface="Helvetica Neue"/>
                <a:ea typeface="Helvetica Neue"/>
                <a:cs typeface="Helvetica Neue"/>
              </a:rPr>
              <a:t>Connect the final belief</a:t>
            </a:r>
            <a:endParaRPr>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a:latin typeface="Helvetica Neue"/>
                <a:ea typeface="Helvetica Neue"/>
                <a:cs typeface="Helvetica Neue"/>
              </a:rPr>
              <a:t>to the exact final code</a:t>
            </a:r>
            <a:endParaRPr>
              <a:latin typeface="Helvetica Neue"/>
              <a:ea typeface="Helvetica Neue"/>
              <a:cs typeface="Helvetica Neue"/>
            </a:endParaRPr>
          </a:p>
        </p:txBody>
      </p:sp>
      <p:sp>
        <p:nvSpPr>
          <p:cNvPr id="2" name="Content Placeholder 10">
            <a:extLst xmlns:a="http://schemas.openxmlformats.org/drawingml/2006/main">
              <a:ext uri="{FF2B5EF4-FFF2-40B4-BE49-F238E27FC236}">
                <a16:creationId xmlns:a16="http://schemas.microsoft.com/office/drawing/2014/main" id="{F1357382-F889-8A40-7C64-C4E276E66544}"/>
              </a:ext>
            </a:extLst>
          </p:cNvPr>
          <p:cNvSpPr>
            <a:spLocks xmlns:a="http://schemas.openxmlformats.org/drawingml/2006/main" noGrp="1"/>
          </p:cNvSpPr>
          <p:nvPr/>
        </p:nvSpPr>
        <p:spPr>
          <a:xfrm xmlns:a="http://schemas.openxmlformats.org/drawingml/2006/main">
            <a:off x="7886700" y="2990317"/>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Portal assignment and forms</a:t>
            </a:r>
          </a:p>
        </p:txBody>
      </p:sp>
      <p:sp>
        <p:nvSpPr>
          <p:cNvPr id="3" name="Google Shape;340;p61">
            <a:extLst xmlns:a="http://schemas.openxmlformats.org/drawingml/2006/main">
              <a:ext uri="{FF2B5EF4-FFF2-40B4-BE49-F238E27FC236}">
                <a16:creationId xmlns:a16="http://schemas.microsoft.com/office/drawing/2014/main" id="{DECE1942-1885-9577-DF5F-685A8B1C7180}"/>
              </a:ext>
            </a:extLst>
          </p:cNvPr>
          <p:cNvSpPr>
            <a:spLocks xmlns:a="http://schemas.openxmlformats.org/drawingml/2006/main" noGrp="1"/>
          </p:cNvSpPr>
          <p:nvPr/>
        </p:nvSpPr>
        <p:spPr>
          <a:xfrm xmlns:a="http://schemas.openxmlformats.org/drawingml/2006/main">
            <a:off x="7507725" y="3015150"/>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3700" y="2990316"/>
            <a:ext cx="5537200" cy="288463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latin typeface="Helvetica Neue"/>
                <a:ea typeface="Helvetica Neue"/>
                <a:cs typeface="Helvetica Neue"/>
              </a:rPr>
              <a:t>The portal assigns project, condition and order. The code watcher records snapshots; the final manifest and SQL/path ratings share a hash. Agent records, screen video and replay explain intent, inspection and checks. Blinded review labels final security.</a:t>
            </a:r>
          </a:p>
        </p:txBody>
      </p:sp>
      <p:sp>
        <p:nvSpPr>
          <p:cNvPr id="16" name="Content Placeholder 10">
            <a:extLst xmlns:a="http://schemas.openxmlformats.org/drawingml/2006/main">
              <a:ext uri="{FF2B5EF4-FFF2-40B4-BE49-F238E27FC236}">
                <a16:creationId xmlns:a16="http://schemas.microsoft.com/office/drawing/2014/main" id="{01B260BF-9264-3C70-DF2D-2E6EA83AC133}"/>
              </a:ext>
            </a:extLst>
          </p:cNvPr>
          <p:cNvSpPr>
            <a:spLocks xmlns:a="http://schemas.openxmlformats.org/drawingml/2006/main" noGrp="1"/>
          </p:cNvSpPr>
          <p:nvPr/>
        </p:nvSpPr>
        <p:spPr>
          <a:xfrm xmlns:a="http://schemas.openxmlformats.org/drawingml/2006/main">
            <a:off x="7886700" y="3599916"/>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Code history and final snapshot</a:t>
            </a:r>
          </a:p>
        </p:txBody>
      </p:sp>
      <p:sp>
        <p:nvSpPr>
          <p:cNvPr id="17" name="Google Shape;340;p61">
            <a:extLst xmlns:a="http://schemas.openxmlformats.org/drawingml/2006/main">
              <a:ext uri="{FF2B5EF4-FFF2-40B4-BE49-F238E27FC236}">
                <a16:creationId xmlns:a16="http://schemas.microsoft.com/office/drawing/2014/main" id="{A6CF1E9A-BF4C-E7B2-D556-8AB5FB2B65F0}"/>
              </a:ext>
            </a:extLst>
          </p:cNvPr>
          <p:cNvSpPr>
            <a:spLocks xmlns:a="http://schemas.openxmlformats.org/drawingml/2006/main" noGrp="1"/>
          </p:cNvSpPr>
          <p:nvPr/>
        </p:nvSpPr>
        <p:spPr>
          <a:xfrm xmlns:a="http://schemas.openxmlformats.org/drawingml/2006/main">
            <a:off x="7507725" y="3624749"/>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8" name="Content Placeholder 10">
            <a:extLst xmlns:a="http://schemas.openxmlformats.org/drawingml/2006/main">
              <a:ext uri="{FF2B5EF4-FFF2-40B4-BE49-F238E27FC236}">
                <a16:creationId xmlns:a16="http://schemas.microsoft.com/office/drawing/2014/main" id="{FE696631-18B5-8115-E5AD-ACCFD6221418}"/>
              </a:ext>
            </a:extLst>
          </p:cNvPr>
          <p:cNvSpPr>
            <a:spLocks xmlns:a="http://schemas.openxmlformats.org/drawingml/2006/main" noGrp="1"/>
          </p:cNvSpPr>
          <p:nvPr/>
        </p:nvSpPr>
        <p:spPr>
          <a:xfrm xmlns:a="http://schemas.openxmlformats.org/drawingml/2006/main">
            <a:off x="7886700" y="4214765"/>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Scoped agent conversation record</a:t>
            </a:r>
          </a:p>
        </p:txBody>
      </p:sp>
      <p:sp>
        <p:nvSpPr>
          <p:cNvPr id="19" name="Google Shape;340;p61">
            <a:extLst xmlns:a="http://schemas.openxmlformats.org/drawingml/2006/main">
              <a:ext uri="{FF2B5EF4-FFF2-40B4-BE49-F238E27FC236}">
                <a16:creationId xmlns:a16="http://schemas.microsoft.com/office/drawing/2014/main" id="{6ECBDA1E-6C7D-6B0F-A430-DF8A0965C58D}"/>
              </a:ext>
            </a:extLst>
          </p:cNvPr>
          <p:cNvSpPr>
            <a:spLocks xmlns:a="http://schemas.openxmlformats.org/drawingml/2006/main" noGrp="1"/>
          </p:cNvSpPr>
          <p:nvPr/>
        </p:nvSpPr>
        <p:spPr>
          <a:xfrm xmlns:a="http://schemas.openxmlformats.org/drawingml/2006/main">
            <a:off x="7507725" y="4239598"/>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0" name="Content Placeholder 10">
            <a:extLst xmlns:a="http://schemas.openxmlformats.org/drawingml/2006/main">
              <a:ext uri="{FF2B5EF4-FFF2-40B4-BE49-F238E27FC236}">
                <a16:creationId xmlns:a16="http://schemas.microsoft.com/office/drawing/2014/main" id="{9FC4B09F-4593-687E-52A3-7E683F7FE9E4}"/>
              </a:ext>
            </a:extLst>
          </p:cNvPr>
          <p:cNvSpPr>
            <a:spLocks xmlns:a="http://schemas.openxmlformats.org/drawingml/2006/main" noGrp="1"/>
          </p:cNvSpPr>
          <p:nvPr/>
        </p:nvSpPr>
        <p:spPr>
          <a:xfrm xmlns:a="http://schemas.openxmlformats.org/drawingml/2006/main">
            <a:off x="7886700" y="4824364"/>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Consented screen recording</a:t>
            </a:r>
          </a:p>
        </p:txBody>
      </p:sp>
      <p:sp>
        <p:nvSpPr>
          <p:cNvPr id="21" name="Google Shape;340;p61">
            <a:extLst xmlns:a="http://schemas.openxmlformats.org/drawingml/2006/main">
              <a:ext uri="{FF2B5EF4-FFF2-40B4-BE49-F238E27FC236}">
                <a16:creationId xmlns:a16="http://schemas.microsoft.com/office/drawing/2014/main" id="{006032E6-DDFC-FA22-4D08-3BFFC755BB8D}"/>
              </a:ext>
            </a:extLst>
          </p:cNvPr>
          <p:cNvSpPr>
            <a:spLocks xmlns:a="http://schemas.openxmlformats.org/drawingml/2006/main" noGrp="1"/>
          </p:cNvSpPr>
          <p:nvPr/>
        </p:nvSpPr>
        <p:spPr>
          <a:xfrm xmlns:a="http://schemas.openxmlformats.org/drawingml/2006/main">
            <a:off x="7507725" y="48491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3" name="Content Placeholder 10">
            <a:extLst xmlns:a="http://schemas.openxmlformats.org/drawingml/2006/main">
              <a:ext uri="{FF2B5EF4-FFF2-40B4-BE49-F238E27FC236}">
                <a16:creationId xmlns:a16="http://schemas.microsoft.com/office/drawing/2014/main" id="{EDAB1F81-E12B-29DC-E09F-27F129E42AE8}"/>
              </a:ext>
            </a:extLst>
          </p:cNvPr>
          <p:cNvSpPr>
            <a:spLocks xmlns:a="http://schemas.openxmlformats.org/drawingml/2006/main" noGrp="1"/>
          </p:cNvSpPr>
          <p:nvPr/>
        </p:nvSpPr>
        <p:spPr>
          <a:xfrm xmlns:a="http://schemas.openxmlformats.org/drawingml/2006/main">
            <a:off x="7886700" y="5446664"/>
            <a:ext cx="3911600" cy="5487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solidFill>
                  <a:prstClr val="black"/>
                </a:solidFill>
                <a:latin typeface="Helvetica Neue"/>
                <a:ea typeface="Helvetica Neue"/>
                <a:cs typeface="Helvetica Neue"/>
              </a:rPr>
              <a:t>Replay and blinded assessment</a:t>
            </a:r>
          </a:p>
        </p:txBody>
      </p:sp>
      <p:sp>
        <p:nvSpPr>
          <p:cNvPr id="24" name="Google Shape;340;p61">
            <a:extLst xmlns:a="http://schemas.openxmlformats.org/drawingml/2006/main">
              <a:ext uri="{FF2B5EF4-FFF2-40B4-BE49-F238E27FC236}">
                <a16:creationId xmlns:a16="http://schemas.microsoft.com/office/drawing/2014/main" id="{A052337A-4696-49F7-A089-E21DA71AD3B2}"/>
              </a:ext>
            </a:extLst>
          </p:cNvPr>
          <p:cNvSpPr>
            <a:spLocks xmlns:a="http://schemas.openxmlformats.org/drawingml/2006/main" noGrp="1"/>
          </p:cNvSpPr>
          <p:nvPr/>
        </p:nvSpPr>
        <p:spPr>
          <a:xfrm xmlns:a="http://schemas.openxmlformats.org/drawingml/2006/main">
            <a:off x="7507725" y="54714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333187913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2DD23107-4986-8758-3A93-3D74F35908CC}" type="slidenum">
              <a:t>13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How the four RQs will be evaluated</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r>
              <a:rPr b="1"/>
              <a:t>RQ1  Judgment</a:t>
            </a:r>
          </a:p>
          <a:p xmlns:a="http://schemas.openxmlformats.org/drawingml/2006/main">
            <a:r>
              <a:t>Paired task Brier scores for final features; inspect confidence by security label.</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r>
              <a:rPr b="1"/>
              <a:t>RQ2  Final security</a:t>
            </a:r>
          </a:p>
          <a:p xmlns:a="http://schemas.openxmlformats.org/drawingml/2006/main">
            <a:r>
              <a:t>Count functional and vulnerable final features; trace confirmed exposures separately.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RQ3  Checks</a:t>
            </a:r>
          </a:p>
          <a:p xmlns:a="http://schemas.openxmlformats.org/drawingml/2006/main">
            <a:r>
              <a:t>Code verification before and after agent integration; describe sequences and repairs.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RQ4  Class</a:t>
            </a:r>
          </a:p>
          <a:p xmlns:a="http://schemas.openxmlformats.org/drawingml/2006/main">
            <a:r>
              <a:t>Show SQL and path results with counts and intervals; exploratory.</a:t>
            </a:r>
          </a:p>
        </p:txBody>
      </p:sp>
    </p:spTree>
    <p:extLst>
      <p:ext uri="{BB962C8B-B14F-4D97-AF65-F5344CB8AC3E}">
        <p14:creationId xmlns:p14="http://schemas.microsoft.com/office/powerpoint/2010/main" val="3601454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Validity checks for the natural study</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Two coders label intent, including mixed or unclear episodes.</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Medium"/>
                <a:ea typeface="Helvetica Neue Medium"/>
                <a:cs typeface="Helvetica Neue Medium"/>
              </a:rPr>
              <a:t>MODE</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Balance projects and task position; audit real allocation.</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Medium"/>
                <a:ea typeface="Helvetica Neue Medium"/>
                <a:cs typeface="Helvetica Neue Medium"/>
              </a:rPr>
              <a:t>ORDER</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Check real transcript, video, hashes and missing streams.</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Medium"/>
                <a:ea typeface="Helvetica Neue Medium"/>
                <a:cs typeface="Helvetica Neue Medium"/>
              </a:rPr>
              <a:t>CAPTURE</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a:ea typeface="Helvetica Neue"/>
                <a:cs typeface="Helvetica Neue"/>
              </a:rPr>
              <a:t>Use attack tests plus blinded final-code review.</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prstClr val="black"/>
                </a:solidFill>
                <a:latin typeface="Helvetica Neue Medium"/>
                <a:ea typeface="Helvetica Neue Medium"/>
                <a:cs typeface="Helvetica Neue Medium"/>
              </a:rPr>
              <a:t>OUTCOME</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Assignment, observed mode and outcome are distinct</a:t>
            </a:r>
          </a:p>
          <a:p xmlns:a="http://schemas.openxmlformats.org/drawingml/2006/main">
            <a:r>
              <a:t>The pilot tests whether encouragement changes interaction purpose while free coding and evidence capture remain feasible.</a:t>
            </a:r>
          </a:p>
        </p:txBody>
      </p:sp>
    </p:spTree>
    <p:extLst>
      <p:ext uri="{BB962C8B-B14F-4D97-AF65-F5344CB8AC3E}">
        <p14:creationId xmlns:p14="http://schemas.microsoft.com/office/powerpoint/2010/main" val="67611695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00000000-1234-1234-1234-123412341234}" type="slidenum">
              <a:t>19</a:t>
            </a:fld>
            <a:endParaRPr/>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Current progress: natural workflow built locally</a:t>
            </a:r>
            <a:endParaRP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solidFill>
                  <a:prstClr val="black"/>
                </a:solidFill>
                <a:latin typeface="Helvetica Neue"/>
                <a:ea typeface="Helvetica Neue"/>
                <a:cs typeface="Helvetica Neue"/>
              </a:rPr>
              <a:t>Runnable JavaScript projects</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solidFill>
                  <a:prstClr val="black"/>
                </a:solidFill>
                <a:latin typeface="Helvetica Neue"/>
                <a:ea typeface="Helvetica Neue"/>
                <a:cs typeface="Helvetica Neue"/>
              </a:rPr>
              <a:t>Human natural-workflow sessions reported</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solidFill>
                  <a:prstClr val="black"/>
                </a:solidFill>
                <a:latin typeface="Helvetica Neue"/>
                <a:ea typeface="Helvetica Neue"/>
                <a:cs typeface="Helvetica Neue"/>
              </a:rPr>
              <a:t>Evidence files required per task by the local portal</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500" b="0" i="0" u="none" cap="none" spc="0">
                <a:ln>
                  <a:noFill/>
                </a:ln>
                <a:solidFill>
                  <a:prstClr val="black"/>
                </a:solidFill>
                <a:latin typeface="Helvetica Neue"/>
                <a:ea typeface="Helvetica Neue"/>
                <a:cs typeface="Helvetica Neue"/>
              </a:rPr>
              <a:t>2</a:t>
            </a:r>
            <a:endParaRPr sz="7500"/>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500" b="0" i="0" u="none" cap="none" spc="0">
                <a:ln>
                  <a:noFill/>
                </a:ln>
                <a:solidFill>
                  <a:prstClr val="black"/>
                </a:solidFill>
                <a:latin typeface="Helvetica Neue"/>
                <a:ea typeface="Helvetica Neue"/>
                <a:cs typeface="Helvetica Neue"/>
              </a:rPr>
              <a:t>7</a:t>
            </a:r>
            <a:endParaRPr sz="7500"/>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500" b="0" i="0" u="none" cap="none" spc="0">
                <a:ln>
                  <a:noFill/>
                </a:ln>
                <a:solidFill>
                  <a:prstClr val="black"/>
                </a:solidFill>
                <a:latin typeface="Helvetica Neue"/>
                <a:ea typeface="Helvetica Neue"/>
                <a:cs typeface="Helvetica Neue"/>
              </a:rPr>
              <a:t>0</a:t>
            </a:r>
            <a:endParaRPr sz="7500"/>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Engineering evidence, not participant outcomes</a:t>
            </a:r>
          </a:p>
          <a:p xmlns:a="http://schemas.openxmlformats.org/drawingml/2006/main">
            <a:r>
              <a:t>Natural task ZIPs, portal sequence, hash-linked ratings, watcher and scoped observer passed synthetic checks. Real host capture and assessment remain to be rehearsed.</a:t>
            </a:r>
          </a:p>
        </p:txBody>
      </p:sp>
      <p:sp>
        <p:nvSpPr>
          <p:cNvPr id="16" name="Footer Placeholder 6">
            <a:extLst xmlns:a="http://schemas.openxmlformats.org/drawingml/2006/main">
              <a:ext uri="{FF2B5EF4-FFF2-40B4-BE49-F238E27FC236}">
                <a16:creationId xmlns:a16="http://schemas.microsoft.com/office/drawing/2014/main" id="{900EC5BE-2B4D-939D-B2BC-321F895D023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36961682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0AD2B367-4B64-657F-20CC-D17632C47D9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F3FA98E-8546-AC84-6BD4-8DF0BEBBB87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DC9C7607-4BA3-B4DC-A00F-2E67A9FCFF7E}" type="slidenum">
              <a:t>16</a:t>
            </a:fld>
            <a:endParaRPr/>
          </a:p>
        </p:txBody>
      </p:sp>
      <p:sp>
        <p:nvSpPr>
          <p:cNvPr id="11" name="Title 10">
            <a:extLst xmlns:a="http://schemas.openxmlformats.org/drawingml/2006/main">
              <a:ext uri="{FF2B5EF4-FFF2-40B4-BE49-F238E27FC236}">
                <a16:creationId xmlns:a16="http://schemas.microsoft.com/office/drawing/2014/main" id="{D802DC3F-F6C4-90E8-847D-BA0C2E4445D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Pilot results: reserved for human sessions</a:t>
            </a:r>
          </a:p>
        </p:txBody>
      </p:sp>
      <p:cxnSp>
        <p:nvCxnSpPr>
          <p:cNvPr id="29" name="Google Shape;2259;p159"/>
          <p:cNvCxnSpPr>
            <a:stCxn xmlns:a="http://schemas.openxmlformats.org/drawingml/2006/main" id="3" idx="2"/>
          </p:cNvCxnSpPr>
          <p:nvPr/>
        </p:nvCxnSpPr>
        <p:spPr>
          <a:xfrm xmlns:a="http://schemas.openxmlformats.org/drawingml/2006/main">
            <a:off x="337718" y="5341621"/>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96976673-0764-B027-B369-C8C94D395088}"/>
              </a:ext>
            </a:extLst>
          </p:cNvPr>
          <p:cNvSpPr>
            <a:spLocks xmlns:a="http://schemas.openxmlformats.org/drawingml/2006/main" noGrp="1"/>
          </p:cNvSpPr>
          <p:nvPr/>
        </p:nvSpPr>
        <p:spPr>
          <a:xfrm xmlns:a="http://schemas.openxmlformats.org/drawingml/2006/main">
            <a:off x="337718"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80D9DF3C-FD01-7A5C-C521-9B86480D4057}"/>
              </a:ext>
            </a:extLst>
          </p:cNvPr>
          <p:cNvSpPr>
            <a:spLocks xmlns:a="http://schemas.openxmlformats.org/drawingml/2006/main" noGrp="1"/>
          </p:cNvSpPr>
          <p:nvPr/>
        </p:nvSpPr>
        <p:spPr>
          <a:xfrm xmlns:a="http://schemas.openxmlformats.org/drawingml/2006/main">
            <a:off x="4251750"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37DF6577-8813-93FC-E0AA-22F96D3445FC}"/>
              </a:ext>
            </a:extLst>
          </p:cNvPr>
          <p:cNvSpPr>
            <a:spLocks xmlns:a="http://schemas.openxmlformats.org/drawingml/2006/main" noGrp="1"/>
          </p:cNvSpPr>
          <p:nvPr/>
        </p:nvSpPr>
        <p:spPr>
          <a:xfrm xmlns:a="http://schemas.openxmlformats.org/drawingml/2006/main">
            <a:off x="8176050" y="5288071"/>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20" name="Rounded Rectangle 19">
            <a:extLst xmlns:a="http://schemas.openxmlformats.org/drawingml/2006/main">
              <a:ext uri="{FF2B5EF4-FFF2-40B4-BE49-F238E27FC236}">
                <a16:creationId xmlns:a16="http://schemas.microsoft.com/office/drawing/2014/main" id="{18323F9C-3DB1-9BB3-9462-18B6435C1038}"/>
              </a:ext>
            </a:extLst>
          </p:cNvPr>
          <p:cNvSpPr>
            <a:spLocks xmlns:a="http://schemas.openxmlformats.org/drawingml/2006/main" noGrp="1"/>
          </p:cNvSpPr>
          <p:nvPr/>
        </p:nvSpPr>
        <p:spPr>
          <a:xfrm xmlns:a="http://schemas.openxmlformats.org/drawingml/2006/main">
            <a:off x="393700" y="1401762"/>
            <a:ext cx="3568700" cy="36195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Content Placeholder 8">
            <a:extLst xmlns:a="http://schemas.openxmlformats.org/drawingml/2006/main">
              <a:ext uri="{FF2B5EF4-FFF2-40B4-BE49-F238E27FC236}">
                <a16:creationId xmlns:a16="http://schemas.microsoft.com/office/drawing/2014/main" id="{052F45FF-C9C5-2664-7FF7-CFEC29737802}"/>
              </a:ext>
            </a:extLst>
          </p:cNvPr>
          <p:cNvSpPr>
            <a:spLocks xmlns:a="http://schemas.openxmlformats.org/drawingml/2006/main" noGrp="1"/>
          </p:cNvSpPr>
          <p:nvPr/>
        </p:nvSpPr>
        <p:spPr>
          <a:xfrm xmlns:a="http://schemas.openxmlformats.org/drawingml/2006/main">
            <a:off x="703381"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Feasibility</a:t>
            </a:r>
          </a:p>
          <a:p xmlns:a="http://schemas.openxmlformats.org/drawingml/2006/main">
            <a:r>
              <a:t>Pending: completion, task timing, participant comprehension and burden.</a:t>
            </a:r>
          </a:p>
        </p:txBody>
      </p:sp>
      <p:sp>
        <p:nvSpPr>
          <p:cNvPr id="22" name="Rounded Rectangle 21">
            <a:extLst xmlns:a="http://schemas.openxmlformats.org/drawingml/2006/main">
              <a:ext uri="{FF2B5EF4-FFF2-40B4-BE49-F238E27FC236}">
                <a16:creationId xmlns:a16="http://schemas.microsoft.com/office/drawing/2014/main" id="{C3E867C1-C7DA-85C7-C8DC-55F132F2923B}"/>
              </a:ext>
            </a:extLst>
          </p:cNvPr>
          <p:cNvSpPr>
            <a:spLocks xmlns:a="http://schemas.openxmlformats.org/drawingml/2006/main" noGrp="1"/>
          </p:cNvSpPr>
          <p:nvPr/>
        </p:nvSpPr>
        <p:spPr>
          <a:xfrm xmlns:a="http://schemas.openxmlformats.org/drawingml/2006/main">
            <a:off x="4308475" y="1401762"/>
            <a:ext cx="3568700" cy="36195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Content Placeholder 8">
            <a:extLst xmlns:a="http://schemas.openxmlformats.org/drawingml/2006/main">
              <a:ext uri="{FF2B5EF4-FFF2-40B4-BE49-F238E27FC236}">
                <a16:creationId xmlns:a16="http://schemas.microsoft.com/office/drawing/2014/main" id="{5C40FE43-DE8E-7C68-A6D4-F8D8AECE747F}"/>
              </a:ext>
            </a:extLst>
          </p:cNvPr>
          <p:cNvSpPr>
            <a:spLocks xmlns:a="http://schemas.openxmlformats.org/drawingml/2006/main" noGrp="1"/>
          </p:cNvSpPr>
          <p:nvPr/>
        </p:nvSpPr>
        <p:spPr>
          <a:xfrm xmlns:a="http://schemas.openxmlformats.org/drawingml/2006/main">
            <a:off x="4618156"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Manipulation</a:t>
            </a:r>
          </a:p>
          <a:p xmlns:a="http://schemas.openxmlformats.org/drawingml/2006/main">
            <a:r>
              <a:t>Pending: coded acceleration/exploration time, switching and carryover.</a:t>
            </a:r>
          </a:p>
        </p:txBody>
      </p:sp>
      <p:sp>
        <p:nvSpPr>
          <p:cNvPr id="24" name="Rounded Rectangle 23">
            <a:extLst xmlns:a="http://schemas.openxmlformats.org/drawingml/2006/main">
              <a:ext uri="{FF2B5EF4-FFF2-40B4-BE49-F238E27FC236}">
                <a16:creationId xmlns:a16="http://schemas.microsoft.com/office/drawing/2014/main" id="{EA9CAD1D-ACB2-1454-6255-0DA0ECB85F88}"/>
              </a:ext>
            </a:extLst>
          </p:cNvPr>
          <p:cNvSpPr>
            <a:spLocks xmlns:a="http://schemas.openxmlformats.org/drawingml/2006/main" noGrp="1"/>
          </p:cNvSpPr>
          <p:nvPr/>
        </p:nvSpPr>
        <p:spPr>
          <a:xfrm xmlns:a="http://schemas.openxmlformats.org/drawingml/2006/main">
            <a:off x="8237538" y="1401762"/>
            <a:ext cx="3568700" cy="3619500"/>
          </a:xfrm>
          <a:prstGeom xmlns:a="http://schemas.openxmlformats.org/drawingml/2006/main" prst="roundRect">
            <a:avLst>
              <a:gd name="adj" fmla="val 3585"/>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Content Placeholder 8">
            <a:extLst xmlns:a="http://schemas.openxmlformats.org/drawingml/2006/main">
              <a:ext uri="{FF2B5EF4-FFF2-40B4-BE49-F238E27FC236}">
                <a16:creationId xmlns:a16="http://schemas.microsoft.com/office/drawing/2014/main" id="{AECA4705-7C1E-A1DB-1156-729DDE0C588F}"/>
              </a:ext>
            </a:extLst>
          </p:cNvPr>
          <p:cNvSpPr>
            <a:spLocks xmlns:a="http://schemas.openxmlformats.org/drawingml/2006/main" noGrp="1"/>
          </p:cNvSpPr>
          <p:nvPr/>
        </p:nvSpPr>
        <p:spPr>
          <a:xfrm xmlns:a="http://schemas.openxmlformats.org/drawingml/2006/main">
            <a:off x="8547219" y="1806797"/>
            <a:ext cx="2949339" cy="256676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Measurement quality</a:t>
            </a:r>
          </a:p>
          <a:p xmlns:a="http://schemas.openxmlformats.org/drawingml/2006/main">
            <a:r>
              <a:t>Pending: real transcript/video coverage, security review and coding agreement.</a:t>
            </a:r>
          </a:p>
        </p:txBody>
      </p:sp>
      <p:sp>
        <p:nvSpPr>
          <p:cNvPr id="8" name="Text Placeholder 16">
            <a:extLst xmlns:a="http://schemas.openxmlformats.org/drawingml/2006/main">
              <a:ext uri="{FF2B5EF4-FFF2-40B4-BE49-F238E27FC236}">
                <a16:creationId xmlns:a16="http://schemas.microsoft.com/office/drawing/2014/main" id="{013F05BF-0D59-AD7B-B623-A2626D8E3303}"/>
              </a:ext>
            </a:extLst>
          </p:cNvPr>
          <p:cNvSpPr>
            <a:spLocks xmlns:a="http://schemas.openxmlformats.org/drawingml/2006/main" noGrp="1"/>
          </p:cNvSpPr>
          <p:nvPr/>
        </p:nvSpPr>
        <p:spPr>
          <a:xfrm xmlns:a="http://schemas.openxmlformats.org/drawingml/2006/main">
            <a:off x="4251750"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PENDING</a:t>
            </a:r>
            <a:endParaRPr sz="1600">
              <a:solidFill>
                <a:prstClr val="black"/>
              </a:solidFill>
              <a:latin typeface="Helvetica Neue"/>
              <a:ea typeface="Helvetica Neue"/>
              <a:cs typeface="Helvetica Neue"/>
            </a:endParaRPr>
          </a:p>
        </p:txBody>
      </p:sp>
      <p:sp>
        <p:nvSpPr>
          <p:cNvPr id="12" name="Text Placeholder 16">
            <a:extLst xmlns:a="http://schemas.openxmlformats.org/drawingml/2006/main">
              <a:ext uri="{FF2B5EF4-FFF2-40B4-BE49-F238E27FC236}">
                <a16:creationId xmlns:a16="http://schemas.microsoft.com/office/drawing/2014/main" id="{BD278DD6-3486-8F28-C119-6A1866BD8D2F}"/>
              </a:ext>
            </a:extLst>
          </p:cNvPr>
          <p:cNvSpPr>
            <a:spLocks xmlns:a="http://schemas.openxmlformats.org/drawingml/2006/main" noGrp="1"/>
          </p:cNvSpPr>
          <p:nvPr/>
        </p:nvSpPr>
        <p:spPr>
          <a:xfrm xmlns:a="http://schemas.openxmlformats.org/drawingml/2006/main">
            <a:off x="390950"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PENDING</a:t>
            </a:r>
            <a:endParaRPr sz="1600">
              <a:solidFill>
                <a:prstClr val="black"/>
              </a:solidFill>
              <a:latin typeface="Helvetica Neue"/>
              <a:ea typeface="Helvetica Neue"/>
              <a:cs typeface="Helvetica Neue"/>
            </a:endParaRPr>
          </a:p>
        </p:txBody>
      </p:sp>
      <p:sp>
        <p:nvSpPr>
          <p:cNvPr id="13" name="Text Placeholder 16">
            <a:extLst xmlns:a="http://schemas.openxmlformats.org/drawingml/2006/main">
              <a:ext uri="{FF2B5EF4-FFF2-40B4-BE49-F238E27FC236}">
                <a16:creationId xmlns:a16="http://schemas.microsoft.com/office/drawing/2014/main" id="{DAB1D750-F0E1-A3C4-989E-260B04C4A85B}"/>
              </a:ext>
            </a:extLst>
          </p:cNvPr>
          <p:cNvSpPr>
            <a:spLocks xmlns:a="http://schemas.openxmlformats.org/drawingml/2006/main" noGrp="1"/>
          </p:cNvSpPr>
          <p:nvPr/>
        </p:nvSpPr>
        <p:spPr>
          <a:xfrm xmlns:a="http://schemas.openxmlformats.org/drawingml/2006/main">
            <a:off x="8225439" y="5602406"/>
            <a:ext cx="2595934" cy="391993"/>
          </a:xfrm>
          <a:prstGeom xmlns:a="http://schemas.openxmlformats.org/drawingml/2006/main" prst="rect">
            <a:avLst/>
          </a:prstGeom>
        </p:spPr>
        <p:txBody>
          <a:bodyPr xmlns:a="http://schemas.openxmlformats.org/drawingml/2006/main">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solidFill>
                  <a:prstClr val="black"/>
                </a:solidFill>
                <a:latin typeface="Helvetica Neue"/>
                <a:ea typeface="Helvetica Neue"/>
                <a:cs typeface="Helvetica Neue"/>
              </a:rPr>
              <a:t>PENDING</a:t>
            </a:r>
            <a:endParaRPr sz="1600">
              <a:solidFill>
                <a:prstClr val="black"/>
              </a:solidFill>
              <a:latin typeface="Helvetica Neue"/>
              <a:ea typeface="Helvetica Neue"/>
              <a:cs typeface="Helvetica Neue"/>
            </a:endParaRPr>
          </a:p>
        </p:txBody>
      </p:sp>
    </p:spTree>
    <p:extLst>
      <p:ext uri="{BB962C8B-B14F-4D97-AF65-F5344CB8AC3E}">
        <p14:creationId xmlns:p14="http://schemas.microsoft.com/office/powerpoint/2010/main" val="167841331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90F7333B-44AC-F7E9-D49D-FE92F45E0477}" type="slidenum">
              <a:t>17</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Next research gates</a:t>
            </a:r>
          </a:p>
        </p:txBody>
      </p:sp>
      <p:cxnSp>
        <p:nvCxnSpPr>
          <p:cNvPr id="23"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GATE 1</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GATE 2</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GATE 3</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Human feasibility pilot</a:t>
            </a:r>
          </a:p>
          <a:p xmlns:a="http://schemas.openxmlformats.org/drawingml/2006/main">
            <a:r>
              <a:t>Run wording checks and 4–6 sessions; refine the protocol.</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Real host rehearsal</a:t>
            </a:r>
          </a:p>
          <a:p xmlns:a="http://schemas.openxmlformats.org/drawingml/2006/main">
            <a:r>
              <a:t>Test access, capture, retrieval and final-code review.</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Main study</a:t>
            </a:r>
          </a:p>
          <a:p xmlns:a="http://schemas.openxmlformats.org/drawingml/2006/main">
            <a:r>
              <a:t>Freeze the plan; recruit 30 completed participants.</a:t>
            </a:r>
          </a:p>
        </p:txBody>
      </p:sp>
    </p:spTree>
    <p:extLst>
      <p:ext uri="{BB962C8B-B14F-4D97-AF65-F5344CB8AC3E}">
        <p14:creationId xmlns:p14="http://schemas.microsoft.com/office/powerpoint/2010/main" val="344633891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r>
              <a:rPr sz="7200"/>
              <a:t>From belief
to final code</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3700" y="4973320"/>
            <a:ext cx="3568700" cy="1080246"/>
          </a:xfrm>
        </p:spPr>
        <p:txBody>
          <a:bodyPr xmlns:a="http://schemas.openxmlformats.org/drawingml/2006/main">
            <a:noAutofit/>
          </a:bodyPr>
          <a:lstStyle xmlns:a="http://schemas.openxmlformats.org/drawingml/2006/main"/>
          <a:p xmlns:a="http://schemas.openxmlformats.org/drawingml/2006/main">
            <a:r>
              <a:rPr sz="2000"/>
              <a:t>Two work orientations. Free coding. Final security judgments linked to assessed code.</a:t>
            </a:r>
          </a:p>
          <a:p xmlns:a="http://schemas.openxmlformats.org/drawingml/2006/main">
            <a:r>
              <a:rPr sz="2000"/>
              <a:t>Human results are still to come.</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THANK YOU</a:t>
            </a:r>
          </a:p>
        </p:txBody>
      </p:sp>
    </p:spTree>
    <p:extLst>
      <p:ext uri="{BB962C8B-B14F-4D97-AF65-F5344CB8AC3E}">
        <p14:creationId xmlns:p14="http://schemas.microsoft.com/office/powerpoint/2010/main" val="365367855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CCF91274-D221-1BB4-3BF9-836E3AD31EBE}" type="slidenum">
              <a:t>19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Selected references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Developer interaction and trust</a:t>
            </a:r>
          </a:p>
          <a:p xmlns:a="http://schemas.openxmlformats.org/drawingml/2006/main">
            <a:r>
              <a:t>Barke et al. (2022), Grounded Copilot
Brown et al. (2024), Trust in code completion
Wang et al. (2024), Trust in code generation
Okamura &amp; Yamada (2020), Trust calibration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b="1"/>
              <a:t>Security and method</a:t>
            </a:r>
          </a:p>
          <a:p xmlns:a="http://schemas.openxmlformats.org/drawingml/2006/main">
            <a:r>
              <a:t>Perry et al. (2022), AI-assisted insecure code
Khalid et al. (2026), Insecure AI suggestions
Oh et al. (2023), Insecure suggestions
Tang et al. (2024), Validation and repair</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2026-10-13T12:32:32.5760000Z</dcterms:created>
  <dcterms:modified xsi:type="dcterms:W3CDTF">2026-10-13T12:32:32.5760000Z</dcterms:modified>
</coreProperties>
</file>