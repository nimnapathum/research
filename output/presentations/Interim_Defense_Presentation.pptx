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04682ac52b4659" /><Relationship Type="http://schemas.openxmlformats.org/officeDocument/2006/relationships/extended-properties" Target="/docProps/app.xml" Id="Rf626b0436e914a15" /><Relationship Type="http://schemas.openxmlformats.org/officeDocument/2006/relationships/officeDocument" Target="/ppt/presentation.xml" Id="R9f3fe8b6a3bc4cfe"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92f654f3c3e4f93"/>
  </p:sldMasterIdLst>
  <p:notesMasterIdLst>
    <p:notesMasterId xmlns:r="http://schemas.openxmlformats.org/officeDocument/2006/relationships" r:id="R19fa7b43e5204b2d"/>
  </p:notesMasterIdLst>
  <p:sldIdLst>
    <p:sldId xmlns:r="http://schemas.openxmlformats.org/officeDocument/2006/relationships" id="256" r:id="Rd6f9a1629b3d44d4"/>
    <p:sldId xmlns:r="http://schemas.openxmlformats.org/officeDocument/2006/relationships" id="257" r:id="R49acfb2437384876"/>
    <p:sldId xmlns:r="http://schemas.openxmlformats.org/officeDocument/2006/relationships" id="258" r:id="Rc5c32d3f58f046af"/>
    <p:sldId xmlns:r="http://schemas.openxmlformats.org/officeDocument/2006/relationships" id="259" r:id="Rd5c45f54b7a0436d"/>
    <p:sldId xmlns:r="http://schemas.openxmlformats.org/officeDocument/2006/relationships" id="260" r:id="R65427938a96a43c7"/>
    <p:sldId xmlns:r="http://schemas.openxmlformats.org/officeDocument/2006/relationships" id="261" r:id="Rcd25c67212be4161"/>
    <p:sldId xmlns:r="http://schemas.openxmlformats.org/officeDocument/2006/relationships" id="262" r:id="Rfd030fa8c5d040d6"/>
    <p:sldId xmlns:r="http://schemas.openxmlformats.org/officeDocument/2006/relationships" id="263" r:id="Race22dc3d53747ab"/>
    <p:sldId xmlns:r="http://schemas.openxmlformats.org/officeDocument/2006/relationships" id="264" r:id="Rbc961029a8914b14"/>
    <p:sldId xmlns:r="http://schemas.openxmlformats.org/officeDocument/2006/relationships" id="265" r:id="Rf9f93e83f5794ecf"/>
    <p:sldId xmlns:r="http://schemas.openxmlformats.org/officeDocument/2006/relationships" id="266" r:id="R1575906f13cb48f6"/>
    <p:sldId xmlns:r="http://schemas.openxmlformats.org/officeDocument/2006/relationships" id="267" r:id="R9c292d6caf24449e"/>
    <p:sldId xmlns:r="http://schemas.openxmlformats.org/officeDocument/2006/relationships" id="268" r:id="Rc512d03dbba54428"/>
    <p:sldId xmlns:r="http://schemas.openxmlformats.org/officeDocument/2006/relationships" id="269" r:id="R72655a84b701452e"/>
    <p:sldId xmlns:r="http://schemas.openxmlformats.org/officeDocument/2006/relationships" id="270" r:id="R449383a8407741f7"/>
    <p:sldId xmlns:r="http://schemas.openxmlformats.org/officeDocument/2006/relationships" id="271" r:id="Re598ba54947b4e8f"/>
    <p:sldId xmlns:r="http://schemas.openxmlformats.org/officeDocument/2006/relationships" id="272" r:id="R4e3b08f5ae9c4553"/>
    <p:sldId xmlns:r="http://schemas.openxmlformats.org/officeDocument/2006/relationships" id="273" r:id="Rb12a0bf2ffa347e7"/>
    <p:sldId xmlns:r="http://schemas.openxmlformats.org/officeDocument/2006/relationships" id="274" r:id="Rb3cfe46468714783"/>
    <p:sldId xmlns:r="http://schemas.openxmlformats.org/officeDocument/2006/relationships" id="275" r:id="Rfe2a0215d4ea46ea"/>
  </p:sldIdLst>
  <p:sldSz cx="12192000" cy="6858000"/>
  <p:notesSz cx="6858000" cy="9144000"/>
  <p:embeddedFontLst>
    <p:embeddedFont>
      <p:font typeface="OpenAI Sans"/>
      <p:regular xmlns:r="http://schemas.openxmlformats.org/officeDocument/2006/relationships" r:id="R48755f28ef15411d"/>
      <p:bold xmlns:r="http://schemas.openxmlformats.org/officeDocument/2006/relationships" r:id="R754a9f1a0ac64423"/>
      <p:italic xmlns:r="http://schemas.openxmlformats.org/officeDocument/2006/relationships" r:id="R7ee3dd697974467c"/>
      <p:boldItalic xmlns:r="http://schemas.openxmlformats.org/officeDocument/2006/relationships" r:id="R11111cc99dcd4fe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fcc476fc5da4fc1" /><Relationship Type="http://schemas.openxmlformats.org/officeDocument/2006/relationships/slideMaster" Target="/ppt/slideMasters/slideMaster1.xml" Id="R592f654f3c3e4f93" /><Relationship Type="http://schemas.openxmlformats.org/officeDocument/2006/relationships/notesMaster" Target="/ppt/notesMasters/notesMaster1.xml" Id="R19fa7b43e5204b2d" /><Relationship Type="http://schemas.openxmlformats.org/officeDocument/2006/relationships/presProps" Target="/ppt/presProps.xml" Id="R666e78c59d3b4840" /><Relationship Type="http://schemas.openxmlformats.org/officeDocument/2006/relationships/viewProps" Target="/ppt/viewProps.xml" Id="R2494004d4e164a09" /><Relationship Type="http://schemas.openxmlformats.org/officeDocument/2006/relationships/tableStyles" Target="/ppt/tableStyles.xml" Id="R84447f29ebae4240" /><Relationship Type="http://schemas.openxmlformats.org/officeDocument/2006/relationships/font" Target="/ppt/fonts/font.dat" Id="R48755f28ef15411d" /><Relationship Type="http://schemas.openxmlformats.org/officeDocument/2006/relationships/font" Target="/ppt/fonts/font2.dat" Id="R754a9f1a0ac64423" /><Relationship Type="http://schemas.openxmlformats.org/officeDocument/2006/relationships/font" Target="/ppt/fonts/font3.dat" Id="R7ee3dd697974467c" /><Relationship Type="http://schemas.openxmlformats.org/officeDocument/2006/relationships/font" Target="/ppt/fonts/font4.dat" Id="R11111cc99dcd4fe9" /><Relationship Type="http://schemas.openxmlformats.org/officeDocument/2006/relationships/slide" Target="/ppt/slides/slide1.xml" Id="Rd6f9a1629b3d44d4" /><Relationship Type="http://schemas.openxmlformats.org/officeDocument/2006/relationships/slide" Target="/ppt/slides/slide2.xml" Id="R49acfb2437384876" /><Relationship Type="http://schemas.openxmlformats.org/officeDocument/2006/relationships/slide" Target="/ppt/slides/slide3.xml" Id="Rc5c32d3f58f046af" /><Relationship Type="http://schemas.openxmlformats.org/officeDocument/2006/relationships/slide" Target="/ppt/slides/slide4.xml" Id="Rd5c45f54b7a0436d" /><Relationship Type="http://schemas.openxmlformats.org/officeDocument/2006/relationships/slide" Target="/ppt/slides/slide5.xml" Id="R65427938a96a43c7" /><Relationship Type="http://schemas.openxmlformats.org/officeDocument/2006/relationships/slide" Target="/ppt/slides/slide6.xml" Id="Rcd25c67212be4161" /><Relationship Type="http://schemas.openxmlformats.org/officeDocument/2006/relationships/slide" Target="/ppt/slides/slide7.xml" Id="Rfd030fa8c5d040d6" /><Relationship Type="http://schemas.openxmlformats.org/officeDocument/2006/relationships/slide" Target="/ppt/slides/slide8.xml" Id="Race22dc3d53747ab" /><Relationship Type="http://schemas.openxmlformats.org/officeDocument/2006/relationships/slide" Target="/ppt/slides/slide9.xml" Id="Rbc961029a8914b14" /><Relationship Type="http://schemas.openxmlformats.org/officeDocument/2006/relationships/slide" Target="/ppt/slides/slide10.xml" Id="Rf9f93e83f5794ecf" /><Relationship Type="http://schemas.openxmlformats.org/officeDocument/2006/relationships/slide" Target="/ppt/slides/slide11.xml" Id="R1575906f13cb48f6" /><Relationship Type="http://schemas.openxmlformats.org/officeDocument/2006/relationships/slide" Target="/ppt/slides/slide12.xml" Id="R9c292d6caf24449e" /><Relationship Type="http://schemas.openxmlformats.org/officeDocument/2006/relationships/slide" Target="/ppt/slides/slide13.xml" Id="Rc512d03dbba54428" /><Relationship Type="http://schemas.openxmlformats.org/officeDocument/2006/relationships/slide" Target="/ppt/slides/slide14.xml" Id="R72655a84b701452e" /><Relationship Type="http://schemas.openxmlformats.org/officeDocument/2006/relationships/slide" Target="/ppt/slides/slide15.xml" Id="R449383a8407741f7" /><Relationship Type="http://schemas.openxmlformats.org/officeDocument/2006/relationships/slide" Target="/ppt/slides/slide16.xml" Id="Re598ba54947b4e8f" /><Relationship Type="http://schemas.openxmlformats.org/officeDocument/2006/relationships/slide" Target="/ppt/slides/slide17.xml" Id="R4e3b08f5ae9c4553" /><Relationship Type="http://schemas.openxmlformats.org/officeDocument/2006/relationships/slide" Target="/ppt/slides/slide18.xml" Id="Rb12a0bf2ffa347e7" /><Relationship Type="http://schemas.openxmlformats.org/officeDocument/2006/relationships/slide" Target="/ppt/slides/slide19.xml" Id="Rb3cfe46468714783" /><Relationship Type="http://schemas.openxmlformats.org/officeDocument/2006/relationships/slide" Target="/ppt/slides/slide20.xml" Id="Rfe2a0215d4ea46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9bcabc3b3a44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413057bc8b456c" /><Relationship Type="http://schemas.openxmlformats.org/officeDocument/2006/relationships/notesMaster" Target="/ppt/notesMasters/notesMaster1.xml" Id="Ra87ac8a2f74a48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19472bdc294918" /><Relationship Type="http://schemas.openxmlformats.org/officeDocument/2006/relationships/notesMaster" Target="/ppt/notesMasters/notesMaster1.xml" Id="R957f85360cbd4f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a99e1834d64e25" /><Relationship Type="http://schemas.openxmlformats.org/officeDocument/2006/relationships/notesMaster" Target="/ppt/notesMasters/notesMaster1.xml" Id="Ra2601ec68ccb4e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533846ccb24b4b" /><Relationship Type="http://schemas.openxmlformats.org/officeDocument/2006/relationships/notesMaster" Target="/ppt/notesMasters/notesMaster1.xml" Id="Rf51d027a18fd43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c6f8beedf141ae" /><Relationship Type="http://schemas.openxmlformats.org/officeDocument/2006/relationships/notesMaster" Target="/ppt/notesMasters/notesMaster1.xml" Id="R442a1537ba8a4d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a0c974b9b34c30" /><Relationship Type="http://schemas.openxmlformats.org/officeDocument/2006/relationships/notesMaster" Target="/ppt/notesMasters/notesMaster1.xml" Id="Rf9b7c8479f8542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04b14842e9499f" /><Relationship Type="http://schemas.openxmlformats.org/officeDocument/2006/relationships/notesMaster" Target="/ppt/notesMasters/notesMaster1.xml" Id="Rbe67b030b3f640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2a9ea2f416468e" /><Relationship Type="http://schemas.openxmlformats.org/officeDocument/2006/relationships/notesMaster" Target="/ppt/notesMasters/notesMaster1.xml" Id="R81c20b21f7f742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dcb1fa754a4a7f" /><Relationship Type="http://schemas.openxmlformats.org/officeDocument/2006/relationships/notesMaster" Target="/ppt/notesMasters/notesMaster1.xml" Id="R25142abf40ff47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3495b0d3c8444e" /><Relationship Type="http://schemas.openxmlformats.org/officeDocument/2006/relationships/notesMaster" Target="/ppt/notesMasters/notesMaster1.xml" Id="Rc5e9587d7b794f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8594f764b3402f" /><Relationship Type="http://schemas.openxmlformats.org/officeDocument/2006/relationships/notesMaster" Target="/ppt/notesMasters/notesMaster1.xml" Id="Rb364afaa455c4a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dea8b505334055" /><Relationship Type="http://schemas.openxmlformats.org/officeDocument/2006/relationships/notesMaster" Target="/ppt/notesMasters/notesMaster1.xml" Id="R01bcaf4247ea48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cb8f679ce8464c" /><Relationship Type="http://schemas.openxmlformats.org/officeDocument/2006/relationships/notesMaster" Target="/ppt/notesMasters/notesMaster1.xml" Id="R4cddc82b29e244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d6ea7ba4304432" /><Relationship Type="http://schemas.openxmlformats.org/officeDocument/2006/relationships/notesMaster" Target="/ppt/notesMasters/notesMaster1.xml" Id="R3c221b020e4347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9ccbc43f7774840" /><Relationship Type="http://schemas.openxmlformats.org/officeDocument/2006/relationships/notesMaster" Target="/ppt/notesMasters/notesMaster1.xml" Id="R77f907b5af0849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611093f5044f0b" /><Relationship Type="http://schemas.openxmlformats.org/officeDocument/2006/relationships/notesMaster" Target="/ppt/notesMasters/notesMaster1.xml" Id="Rd86f8617eb2144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7ba6e390ea74954" /><Relationship Type="http://schemas.openxmlformats.org/officeDocument/2006/relationships/notesMaster" Target="/ppt/notesMasters/notesMaster1.xml" Id="Rc252bfa17e334d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fd0e31af5f41b8" /><Relationship Type="http://schemas.openxmlformats.org/officeDocument/2006/relationships/notesMaster" Target="/ppt/notesMasters/notesMaster1.xml" Id="R113da5c4a40f465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9dc5668990484f" /><Relationship Type="http://schemas.openxmlformats.org/officeDocument/2006/relationships/notesMaster" Target="/ppt/notesMasters/notesMaster1.xml" Id="R8e7a57e062c145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7560fd08310436c" /><Relationship Type="http://schemas.openxmlformats.org/officeDocument/2006/relationships/notesMaster" Target="/ppt/notesMasters/notesMaster1.xml" Id="R1f984e7db11143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research protocol and engineering progress, 12 October 2026. Aim and RQs: RQ.md. The attached proposal-defense PDF is a historical source, not the current protocol.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functional-looking change can violate a stated security requirement. The study compares security judgments and final outcomes in two assigned work orientations. Do not imply that acceleration has already been shown to cause insecurity. Source: RQ.md.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Barke et al., Grounded Copilot, https://arxiv.org/abs/2206.15000 ; Perry et al., Do Users Write More Insecure Code with AI Assistants?, https://arxiv.org/abs/2211.03622 ; Khalid et al., https://arxiv.org/abs/2609.21020 ; Brown et al., https://research.google/pubs/identifying-the-factors-that-influence-trust-in-ai-code-completion/ ; Wang et al., https://doi.org/10.1145/3630106.3658984 . These works motivate the study but do not validate its exact manipulation.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novelty claim is narrow. Security review, insecure AI suggestions, and developer trust have prior literature. See RQ.md and LITERATURE_MAP.md.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paraphrases for projection. Exact researcher-supplied wording is in RQ.md. Assigned encouragement is the condition comparison; observed mode is coded, associative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assigned card changes work orientation, not permission to skip security checks. Observed mode can differ from assignment. Source: 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four planned sequences are in METHODOLOGY.md. Actual allocation and deviations must be audited before claiming a randomized encouragement comparison.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 timing is provisional: approximately two to two-and-a-half hours including setup and interview, based on METHODOLOGY.md. A pilot must test feasibility.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two runnable prototype projects are described in tasks/RESOURCE_CATALOGUE.md and tasks/SUPPORT_ARCHIVE.md. Comparable difficulty remains a pilot question.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checkpoints per task. Candidate order and security-status profile are balanced, so each condition offers one secure and one vulnerable proposal in each weakness class. These are target opportunities, not an estimate of natural agent defect prevalence. Source: 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participant may discuss and inspect before reveal but may not change the target before the first decision. The structured gate is an original instrument requiring pilot validation. Source: METHODOLOGY.md.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study-system/STATUS.md, study-system/pilot/CANDIDATE_PROVENANCE.md, and study-system/pilot/READINESS_AUDIT.md. The source of proposals must be accurately stated in consent and reporting.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Built portal and synthetic joins are not proof that the real Antigravity host captures complete prompts, video, and timing. Exact-host rehearsal is pending. Sources: METHODOLOGY.md, IDE_TELEMETRY.md, study-system/STATUS.md.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Brier measures probabilistic accuracy, combining calibration and discrimination. It is not pure calibration. Participant task means are paired. Verification-outcome association is observational. Sources: MEASURES_AND_EVALUATION.md and DATA_AND_FIGURE_PLAN.md.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Further risks: baseline skill, checkpoint reactivity, candidate visual salience, incomplete capture, and missing final artifacts. Sources: METHODOLOGY.md, MEASURES_AND_EVALUATION.md, DESIGN_TRACEABILITY.md.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as of 12 October 2026 from study-system/STATUS.md and README.md. All 16 constructed candidates passed local normal and security checks; the full synthetic run is software verification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deliberately contains no fabricated pilot outcomes. Feasibility pilot: four target-population participants first, with 4–6 planned overall and additional sessions if needed. The pilot informs revisions and protocol freeze, not causal RQ conclusions. Source: study-system/pilot/PILOT_PROTOCOL.md.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study-system/pilot/READINESS_AUDIT.md and DECISIONS.md. No date is promised for these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conditional on completing the pilot, provenance, and main study. The current result is a reproducible prototype and an analysis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Full source URLs and limitations are documented in REFERENCES.md. Barke https://arxiv.org/abs/2206.15000 ; Brown https://research.google/pubs/identifying-the-factors-that-influence-trust-in-ai-code-completion/ ; Wang https://doi.org/10.1145/3630106.3658984 ; Okamura https://doi.org/10.1371/journal.pone.0229132 ; Perry https://arxiv.org/abs/2211.03622 ; Khalid https://arxiv.org/abs/2609.21020 ; Oh https://arxiv.org/abs/2312.06227 ; Tang https://arxiv.org/abs/2405.16081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3632937de944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f818e8c34940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ad4925340345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49ec828e0641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94f72e62a844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e9f9d57a0a4d3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037c2725f5a4d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9f1bd16fc22471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b72bce749c4fd6" /><Relationship Type="http://schemas.openxmlformats.org/officeDocument/2006/relationships/slideLayout" Target="/ppt/slideLayouts/slideLayout1.xml" Id="Rba84e0c851de4d20" /><Relationship Type="http://schemas.openxmlformats.org/officeDocument/2006/relationships/slideLayout" Target="/ppt/slideLayouts/slideLayout2.xml" Id="Ree74e7566e3340d5" /><Relationship Type="http://schemas.openxmlformats.org/officeDocument/2006/relationships/slideLayout" Target="/ppt/slideLayouts/slideLayout3.xml" Id="R7bd0289b3ddb4463" /><Relationship Type="http://schemas.openxmlformats.org/officeDocument/2006/relationships/slideLayout" Target="/ppt/slideLayouts/slideLayout4.xml" Id="R933c11332cfa4f3f" /><Relationship Type="http://schemas.openxmlformats.org/officeDocument/2006/relationships/slideLayout" Target="/ppt/slideLayouts/slideLayout5.xml" Id="R9c2de44c1c2142f8" /><Relationship Type="http://schemas.openxmlformats.org/officeDocument/2006/relationships/slideLayout" Target="/ppt/slideLayouts/slideLayout6.xml" Id="Rc57fe9a562fa4b9a" /><Relationship Type="http://schemas.openxmlformats.org/officeDocument/2006/relationships/slideLayout" Target="/ppt/slideLayouts/slideLayout7.xml" Id="R8ccb6c818d93422b" /><Relationship Type="http://schemas.openxmlformats.org/officeDocument/2006/relationships/slideLayout" Target="/ppt/slideLayouts/slideLayout8.xml" Id="Rcc8eb54b7837484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84e0c851de4d20"/>
    <p:sldLayoutId xmlns:r="http://schemas.openxmlformats.org/officeDocument/2006/relationships" id="2147483650" r:id="Ree74e7566e3340d5"/>
    <p:sldLayoutId xmlns:r="http://schemas.openxmlformats.org/officeDocument/2006/relationships" id="2147483651" r:id="R7bd0289b3ddb4463"/>
    <p:sldLayoutId xmlns:r="http://schemas.openxmlformats.org/officeDocument/2006/relationships" id="2147483652" r:id="R933c11332cfa4f3f"/>
    <p:sldLayoutId xmlns:r="http://schemas.openxmlformats.org/officeDocument/2006/relationships" id="2147483653" r:id="R9c2de44c1c2142f8"/>
    <p:sldLayoutId xmlns:r="http://schemas.openxmlformats.org/officeDocument/2006/relationships" id="2147483654" r:id="Rc57fe9a562fa4b9a"/>
    <p:sldLayoutId xmlns:r="http://schemas.openxmlformats.org/officeDocument/2006/relationships" id="2147483655" r:id="R8ccb6c818d93422b"/>
    <p:sldLayoutId xmlns:r="http://schemas.openxmlformats.org/officeDocument/2006/relationships" id="2147483656" r:id="Rcc8eb54b78374841"/>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d5dbdaf5a04a2f" /><Relationship Type="http://schemas.openxmlformats.org/officeDocument/2006/relationships/notesSlide" Target="/ppt/notesSlides/notesSlide1.xml" Id="R6ed11d0d566c48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2a9061b2934915" /><Relationship Type="http://schemas.openxmlformats.org/officeDocument/2006/relationships/notesSlide" Target="/ppt/notesSlides/notesSlide2.xml" Id="R56af25611bf340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fd1d2f073ed4bcf" /><Relationship Type="http://schemas.openxmlformats.org/officeDocument/2006/relationships/notesSlide" Target="/ppt/notesSlides/notesSlide3.xml" Id="Rf3cb646cd7a841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7406bf25a142e3" /><Relationship Type="http://schemas.openxmlformats.org/officeDocument/2006/relationships/notesSlide" Target="/ppt/notesSlides/notesSlide4.xml" Id="R47bf97b15a674c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8117a548644b05" /><Relationship Type="http://schemas.openxmlformats.org/officeDocument/2006/relationships/notesSlide" Target="/ppt/notesSlides/notesSlide5.xml" Id="R9eff189ccd7944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7b2f6306464520" /><Relationship Type="http://schemas.openxmlformats.org/officeDocument/2006/relationships/notesSlide" Target="/ppt/notesSlides/notesSlide6.xml" Id="R0b63edf5fe064d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dd71d05a6604eb4" /><Relationship Type="http://schemas.openxmlformats.org/officeDocument/2006/relationships/notesSlide" Target="/ppt/notesSlides/notesSlide7.xml" Id="Raa6bff03c3ee43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597756b7cad4200" /><Relationship Type="http://schemas.openxmlformats.org/officeDocument/2006/relationships/notesSlide" Target="/ppt/notesSlides/notesSlide8.xml" Id="Reb8354ca844e4f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23b15c65f094b57" /><Relationship Type="http://schemas.openxmlformats.org/officeDocument/2006/relationships/notesSlide" Target="/ppt/notesSlides/notesSlide9.xml" Id="R5477eefc420243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8bc4762a6d4944" /><Relationship Type="http://schemas.openxmlformats.org/officeDocument/2006/relationships/notesSlide" Target="/ppt/notesSlides/notesSlide10.xml" Id="R4186fbd6fb0e43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57a5188c9a4a3d" /><Relationship Type="http://schemas.openxmlformats.org/officeDocument/2006/relationships/notesSlide" Target="/ppt/notesSlides/notesSlide11.xml" Id="R9b29ef1b7c344c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8bd67e67c40415a" /><Relationship Type="http://schemas.openxmlformats.org/officeDocument/2006/relationships/notesSlide" Target="/ppt/notesSlides/notesSlide12.xml" Id="R8b859145d44f49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64a07224e5f4386" /><Relationship Type="http://schemas.openxmlformats.org/officeDocument/2006/relationships/notesSlide" Target="/ppt/notesSlides/notesSlide13.xml" Id="Rc073df612df04b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2b090a9abda495a" /><Relationship Type="http://schemas.openxmlformats.org/officeDocument/2006/relationships/notesSlide" Target="/ppt/notesSlides/notesSlide14.xml" Id="Rabf6d027c9484e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8d4ae1b320540db" /><Relationship Type="http://schemas.openxmlformats.org/officeDocument/2006/relationships/notesSlide" Target="/ppt/notesSlides/notesSlide15.xml" Id="Reb9379d4d8754c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a956945d62e4b7d" /><Relationship Type="http://schemas.openxmlformats.org/officeDocument/2006/relationships/notesSlide" Target="/ppt/notesSlides/notesSlide16.xml" Id="R893348bf2cbf46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bcf63d59e3541ce" /><Relationship Type="http://schemas.openxmlformats.org/officeDocument/2006/relationships/notesSlide" Target="/ppt/notesSlides/notesSlide17.xml" Id="R1d5bd30135e048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a702f844eec4585" /><Relationship Type="http://schemas.openxmlformats.org/officeDocument/2006/relationships/notesSlide" Target="/ppt/notesSlides/notesSlide18.xml" Id="R65d9a5ccc7434d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625677ebd364309" /><Relationship Type="http://schemas.openxmlformats.org/officeDocument/2006/relationships/notesSlide" Target="/ppt/notesSlides/notesSlide19.xml" Id="Rea54a405476049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7852820c76343e9" /><Relationship Type="http://schemas.openxmlformats.org/officeDocument/2006/relationships/notesSlide" Target="/ppt/notesSlides/notesSlide20.xml" Id="Re5a59cb3cd67461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Security judgments in
agent-assisted coding</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pPr>
            <a:r>
              <a:rPr sz="1800"/>
              <a:t>Interim defense
S.P.N.P. Eshan  |  22000526  |  SCS4224
Supervisor: Dr. R.N. Rajapakse</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INTERIM DEFENSE</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2579914"/>
            <a:ext cx="9448800" cy="3624272"/>
          </a:xfrm>
        </p:spPr>
        <p:txBody>
          <a:bodyPr xmlns:a="http://schemas.openxmlformats.org/drawingml/2006/main">
            <a:noAutofit/>
          </a:bodyPr>
          <a:lstStyle xmlns:a="http://schemas.openxmlformats.org/drawingml/2006/main"/>
          <a:p xmlns:a="http://schemas.openxmlformats.org/drawingml/2006/main">
            <a:r>
              <a:rPr sz="7200"/>
              <a:t>Can a developer feel confident</a:t>
            </a:r>
          </a:p>
          <a:p xmlns:a="http://schemas.openxmlformats.org/drawingml/2006/main">
            <a:r>
              <a:rPr sz="7200"/>
              <a:t>while insecure code survives?</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THE RESEARCH PROBLEM</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AI-ASSISTED SECURITY</a:t>
            </a:r>
          </a:p>
        </p:txBody>
      </p:sp>
    </p:spTree>
    <p:extLst>
      <p:ext uri="{BB962C8B-B14F-4D97-AF65-F5344CB8AC3E}">
        <p14:creationId xmlns:p14="http://schemas.microsoft.com/office/powerpoint/2010/main" val="35077371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What prior studies establish</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Developer interaction</a:t>
            </a:r>
          </a:p>
          <a:p xmlns:a="http://schemas.openxmlformats.org/drawingml/2006/main">
            <a:r>
              <a:t>Barke et al. describe acceleration and exploration as purposes that can change during a task.
Brown and Wang show that reliance depends on suggestion and context.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Security and AI assistance</a:t>
            </a:r>
          </a:p>
          <a:p xmlns:a="http://schemas.openxmlformats.org/drawingml/2006/main">
            <a:r>
              <a:t>Perry et al. link AI assistance to code security and developers’ security beliefs.
Khalid et al. examine how developers evaluate insecure AI suggestions.</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488"/>
            <a:ext cx="11404600" cy="128303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The gap: connect judgment to the final code</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Observed mode</a:t>
            </a:r>
          </a:p>
          <a:p xmlns:a="http://schemas.openxmlformats.org/drawingml/2006/main">
            <a:r>
              <a:t>Code actual behavior from video, agent records, and interviews.</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Named risks</a:t>
            </a:r>
          </a:p>
          <a:p xmlns:a="http://schemas.openxmlformats.org/drawingml/2006/main">
            <a:r>
              <a:t>Assess SQL injection and path traversal against stated criteria.</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6" name="Rounded Rectangle 5">
            <a:extLst xmlns:a="http://schemas.openxmlformats.org/drawingml/2006/main">
              <a:ext uri="{FF2B5EF4-FFF2-40B4-BE49-F238E27FC236}">
                <a16:creationId xmlns:a16="http://schemas.microsoft.com/office/drawing/2014/main" id="{CEC1020B-1BFB-C461-94A3-B04496D488AD}"/>
              </a:ext>
            </a:extLst>
          </p:cNvPr>
          <p:cNvSpPr>
            <a:spLocks xmlns:a="http://schemas.openxmlformats.org/drawingml/2006/main" noGrp="1"/>
          </p:cNvSpPr>
          <p:nvPr/>
        </p:nvSpPr>
        <p:spPr>
          <a:xfrm xmlns:a="http://schemas.openxmlformats.org/drawingml/2006/main">
            <a:off x="388306"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tent Placeholder 9">
            <a:extLst xmlns:a="http://schemas.openxmlformats.org/drawingml/2006/main">
              <a:ext uri="{FF2B5EF4-FFF2-40B4-BE49-F238E27FC236}">
                <a16:creationId xmlns:a16="http://schemas.microsoft.com/office/drawing/2014/main" id="{BF9CE9B1-F78E-2E93-3127-A76A196DCEA9}"/>
              </a:ext>
            </a:extLst>
          </p:cNvPr>
          <p:cNvSpPr>
            <a:spLocks xmlns:a="http://schemas.openxmlformats.org/drawingml/2006/main" noGrp="1"/>
          </p:cNvSpPr>
          <p:nvPr/>
        </p:nvSpPr>
        <p:spPr>
          <a:xfrm xmlns:a="http://schemas.openxmlformats.org/drawingml/2006/main">
            <a:off x="70117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Assigned orientation</a:t>
            </a:r>
          </a:p>
          <a:p xmlns:a="http://schemas.openxmlformats.org/drawingml/2006/main">
            <a:r>
              <a:t>Compare both conditions within each participant.</a:t>
            </a:r>
          </a:p>
        </p:txBody>
      </p:sp>
      <p:sp>
        <p:nvSpPr>
          <p:cNvPr id="8" name="Google Shape;340;p61">
            <a:extLst xmlns:a="http://schemas.openxmlformats.org/drawingml/2006/main">
              <a:ext uri="{FF2B5EF4-FFF2-40B4-BE49-F238E27FC236}">
                <a16:creationId xmlns:a16="http://schemas.microsoft.com/office/drawing/2014/main" id="{DFAB1693-7B48-B899-1715-D7B6F34DCE6C}"/>
              </a:ext>
            </a:extLst>
          </p:cNvPr>
          <p:cNvSpPr>
            <a:spLocks xmlns:a="http://schemas.openxmlformats.org/drawingml/2006/main" noGrp="1"/>
          </p:cNvSpPr>
          <p:nvPr/>
        </p:nvSpPr>
        <p:spPr>
          <a:xfrm xmlns:a="http://schemas.openxmlformats.org/drawingml/2006/main">
            <a:off x="706998"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Content Placeholder 15">
            <a:extLst xmlns:a="http://schemas.openxmlformats.org/drawingml/2006/main">
              <a:ext uri="{FF2B5EF4-FFF2-40B4-BE49-F238E27FC236}">
                <a16:creationId xmlns:a16="http://schemas.microsoft.com/office/drawing/2014/main" id="{34ED89C7-2856-344F-42B0-44B6A09E907B}"/>
              </a:ext>
            </a:extLst>
          </p:cNvPr>
          <p:cNvSpPr>
            <a:spLocks xmlns:a="http://schemas.openxmlformats.org/drawingml/2006/main" noGrp="1"/>
          </p:cNvSpPr>
          <p:nvPr/>
        </p:nvSpPr>
        <p:spPr>
          <a:xfrm xmlns:a="http://schemas.openxmlformats.org/drawingml/2006/main">
            <a:off x="393701" y="145052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One linked trace</a:t>
            </a:r>
          </a:p>
          <a:p xmlns:a="http://schemas.openxmlformats.org/drawingml/2006/main">
            <a:r>
              <a:t>The study follows a known proposal from first exposure to security confidence, keep/reject choice, checking, repair, and the submitted repository.</a:t>
            </a:r>
          </a:p>
        </p:txBody>
      </p:sp>
    </p:spTree>
    <p:extLst>
      <p:ext uri="{BB962C8B-B14F-4D97-AF65-F5344CB8AC3E}">
        <p14:creationId xmlns:p14="http://schemas.microsoft.com/office/powerpoint/2010/main" val="15661830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EFD6AB9A-5F9E-5F59-51AB-3C8734130965}" type="slidenum">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Four research questions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r>
              <a:rPr b="1"/>
              <a:t>RQ1  Confidence</a:t>
            </a:r>
          </a:p>
          <a:p xmlns:a="http://schemas.openxmlformats.org/drawingml/2006/main">
            <a:r>
              <a:t>Confidence versus assessed security across conditions.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r>
              <a:rPr b="1"/>
              <a:t>RQ2  Final code</a:t>
            </a:r>
          </a:p>
          <a:p xmlns:a="http://schemas.openxmlformats.org/drawingml/2006/main">
            <a:r>
              <a:t>Residual vulnerabilities in submitted code.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RQ3  Verification</a:t>
            </a:r>
          </a:p>
          <a:p xmlns:a="http://schemas.openxmlformats.org/drawingml/2006/main">
            <a:r>
              <a:t>Checks before and after provisional keep.</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RQ4  Weakness class</a:t>
            </a:r>
          </a:p>
          <a:p xmlns:a="http://schemas.openxmlformats.org/drawingml/2006/main">
            <a:r>
              <a:t>SQL injection versus path traversal.</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Within-participant design</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ACCELERATION
Identify a next step and use the agent to carry it out efficiently.</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Known next step</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Same security criteria</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Same tools and time</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EXPLORATION
Use the agent to compare or explain approaches before choosing a step.</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Compare options</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Same security criteria</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Same tools and time</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Same participant, two orientations</a:t>
            </a:r>
          </a:p>
          <a:p xmlns:a="http://schemas.openxmlformats.org/drawingml/2006/main">
            <a:r>
              <a:t>Each early-career participant completes two JavaScript tasks with a coding agent: one under acceleration encouragement and one under exploration encouragement.</a:t>
            </a:r>
          </a:p>
        </p:txBody>
      </p:sp>
    </p:spTree>
    <p:extLst>
      <p:ext uri="{BB962C8B-B14F-4D97-AF65-F5344CB8AC3E}">
        <p14:creationId xmlns:p14="http://schemas.microsoft.com/office/powerpoint/2010/main" val="34624586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C4B207BF-6BAB-0D91-F12C-1E6FFBCC420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AA5CCC43-8737-3A41-CAE5-94B8C1D29B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8B77B614-E3C4-8964-0877-92800631D48F}"/>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Project and order balance</a:t>
            </a:r>
          </a:p>
        </p:txBody>
      </p:sp>
      <p:sp>
        <p:nvSpPr>
          <p:cNvPr id="7" name="Rounded Rectangle 6">
            <a:extLst xmlns:a="http://schemas.openxmlformats.org/drawingml/2006/main">
              <a:ext uri="{FF2B5EF4-FFF2-40B4-BE49-F238E27FC236}">
                <a16:creationId xmlns:a16="http://schemas.microsoft.com/office/drawing/2014/main" id="{24774D92-572F-796B-CFA0-75F5BDE34DE7}"/>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C0439ECA-9193-112F-E7E6-326447CEF7EB}"/>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2</a:t>
            </a:r>
          </a:p>
          <a:p xmlns:a="http://schemas.openxmlformats.org/drawingml/2006/main">
            <a:r>
              <a:t>A + exploration first
B + acceleration second</a:t>
            </a:r>
          </a:p>
        </p:txBody>
      </p:sp>
      <p:sp>
        <p:nvSpPr>
          <p:cNvPr id="9" name="Rounded Rectangle 8">
            <a:extLst xmlns:a="http://schemas.openxmlformats.org/drawingml/2006/main">
              <a:ext uri="{FF2B5EF4-FFF2-40B4-BE49-F238E27FC236}">
                <a16:creationId xmlns:a16="http://schemas.microsoft.com/office/drawing/2014/main" id="{BED27E76-B721-E464-2478-718E91A649B4}"/>
              </a:ext>
            </a:extLst>
          </p:cNvPr>
          <p:cNvSpPr>
            <a:spLocks xmlns:a="http://schemas.openxmlformats.org/drawingml/2006/main" noGrp="1"/>
          </p:cNvSpPr>
          <p:nvPr/>
        </p:nvSpPr>
        <p:spPr>
          <a:xfrm xmlns:a="http://schemas.openxmlformats.org/drawingml/2006/main">
            <a:off x="409043" y="236985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40DA34A0-E630-37E8-0332-0E57245DCF0D}"/>
              </a:ext>
            </a:extLst>
          </p:cNvPr>
          <p:cNvSpPr>
            <a:spLocks xmlns:a="http://schemas.openxmlformats.org/drawingml/2006/main" noGrp="1"/>
          </p:cNvSpPr>
          <p:nvPr/>
        </p:nvSpPr>
        <p:spPr>
          <a:xfrm xmlns:a="http://schemas.openxmlformats.org/drawingml/2006/main">
            <a:off x="706278" y="266478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1</a:t>
            </a:r>
          </a:p>
          <a:p xmlns:a="http://schemas.openxmlformats.org/drawingml/2006/main">
            <a:r>
              <a:t>A + acceleration first
B + exploration second</a:t>
            </a:r>
          </a:p>
        </p:txBody>
      </p:sp>
      <p:sp>
        <p:nvSpPr>
          <p:cNvPr id="2" name="Rounded Rectangle 1">
            <a:extLst xmlns:a="http://schemas.openxmlformats.org/drawingml/2006/main">
              <a:ext uri="{FF2B5EF4-FFF2-40B4-BE49-F238E27FC236}">
                <a16:creationId xmlns:a16="http://schemas.microsoft.com/office/drawing/2014/main" id="{F421FB3D-82DC-94B6-ADD3-99BB3C8E58D0}"/>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9122C651-AF0B-D7E1-E9EF-3F4BC1C587A5}"/>
              </a:ext>
            </a:extLst>
          </p:cNvPr>
          <p:cNvSpPr>
            <a:spLocks xmlns:a="http://schemas.openxmlformats.org/drawingml/2006/main" noGrp="1"/>
          </p:cNvSpPr>
          <p:nvPr/>
        </p:nvSpPr>
        <p:spPr>
          <a:xfrm xmlns:a="http://schemas.openxmlformats.org/drawingml/2006/main">
            <a:off x="6561647" y="466503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4</a:t>
            </a:r>
          </a:p>
          <a:p xmlns:a="http://schemas.openxmlformats.org/drawingml/2006/main">
            <a:r>
              <a:t>B + exploration first
A + acceleration second</a:t>
            </a:r>
          </a:p>
        </p:txBody>
      </p:sp>
      <p:sp>
        <p:nvSpPr>
          <p:cNvPr id="4" name="Rounded Rectangle 3">
            <a:extLst xmlns:a="http://schemas.openxmlformats.org/drawingml/2006/main">
              <a:ext uri="{FF2B5EF4-FFF2-40B4-BE49-F238E27FC236}">
                <a16:creationId xmlns:a16="http://schemas.microsoft.com/office/drawing/2014/main" id="{EDA590ED-3B5F-06BC-B0E9-C6DC4E8BBF0C}"/>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tent Placeholder 10">
            <a:extLst xmlns:a="http://schemas.openxmlformats.org/drawingml/2006/main">
              <a:ext uri="{FF2B5EF4-FFF2-40B4-BE49-F238E27FC236}">
                <a16:creationId xmlns:a16="http://schemas.microsoft.com/office/drawing/2014/main" id="{EB1BBBB3-DA5C-C3DF-7DD6-33AB7A85340B}"/>
              </a:ext>
            </a:extLst>
          </p:cNvPr>
          <p:cNvSpPr>
            <a:spLocks xmlns:a="http://schemas.openxmlformats.org/drawingml/2006/main" noGrp="1"/>
          </p:cNvSpPr>
          <p:nvPr/>
        </p:nvSpPr>
        <p:spPr>
          <a:xfrm xmlns:a="http://schemas.openxmlformats.org/drawingml/2006/main">
            <a:off x="706278" y="466503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3</a:t>
            </a:r>
          </a:p>
          <a:p xmlns:a="http://schemas.openxmlformats.org/drawingml/2006/main">
            <a:r>
              <a:t>B + acceleration first
A + exploration second</a:t>
            </a:r>
          </a:p>
        </p:txBody>
      </p:sp>
      <p:sp>
        <p:nvSpPr>
          <p:cNvPr id="6" name="Content Placeholder 15">
            <a:extLst xmlns:a="http://schemas.openxmlformats.org/drawingml/2006/main">
              <a:ext uri="{FF2B5EF4-FFF2-40B4-BE49-F238E27FC236}">
                <a16:creationId xmlns:a16="http://schemas.microsoft.com/office/drawing/2014/main" id="{04E6B723-686B-D8DD-4DA5-3E62BDE4905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Four sequences</a:t>
            </a:r>
          </a:p>
          <a:p xmlns:a="http://schemas.openxmlformats.org/drawingml/2006/main">
            <a:r>
              <a:t>Project A and Project B each appear with both conditions and in both task positions. The portal reserves a seeded balanced allocation; realized assignments still require audit.</a:t>
            </a:r>
          </a:p>
        </p:txBody>
      </p:sp>
    </p:spTree>
    <p:extLst>
      <p:ext uri="{BB962C8B-B14F-4D97-AF65-F5344CB8AC3E}">
        <p14:creationId xmlns:p14="http://schemas.microsoft.com/office/powerpoint/2010/main" val="17660002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D3D7D1C8-AE23-AA48-DF65-C742588DBE47}" type="slidenum">
              <a:t>7</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Participant session</a:t>
            </a:r>
          </a:p>
        </p:txBody>
      </p:sp>
      <p:cxnSp>
        <p:nvCxnSpPr>
          <p:cNvPr id="23"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START</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TASKS</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END</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Two coding tasks</a:t>
            </a:r>
          </a:p>
          <a:p xmlns:a="http://schemas.openxmlformats.org/drawingml/2006/main">
            <a:r>
              <a:t>Run both conditions in balanced order, with four review checkpoints per task and a break between tasks.</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Consent and baseline</a:t>
            </a:r>
          </a:p>
          <a:p xmlns:a="http://schemas.openxmlformats.org/drawingml/2006/main">
            <a:r>
              <a:t>Record experience, security knowledge, prior agent use, and IDE familiarity. Give equal neutral training.</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Replay interview</a:t>
            </a:r>
          </a:p>
          <a:p xmlns:a="http://schemas.openxmlformats.org/drawingml/2006/main">
            <a:r>
              <a:t>Use selected screen events to ask about intent, confidence, verification, and changed decisions.</a:t>
            </a:r>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Tasks and security opportunities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b="1"/>
              <a:t>Project A</a:t>
            </a:r>
          </a:p>
          <a:p xmlns:a="http://schemas.openxmlformats.org/drawingml/2006/main">
            <a:r>
              <a:t>Resource catalogue
Small JavaScript/Node feature work with SQL and file-path operations.</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r>
              <a:rPr b="1"/>
              <a:t>Shared controls</a:t>
            </a:r>
          </a:p>
          <a:p xmlns:a="http://schemas.openxmlformats.org/drawingml/2006/main">
            <a:r>
              <a:t>Each task gives explicit functional and security criteria. Normal and attack tests assess the named risks.</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100000"/>
          </a:bodyPr>
          <a:lstStyle xmlns:a="http://schemas.openxmlformats.org/drawingml/2006/main"/>
          <a:p xmlns:a="http://schemas.openxmlformats.org/drawingml/2006/main">
            <a:r>
              <a:rPr b="1"/>
              <a:t>Project B</a:t>
            </a:r>
          </a:p>
          <a:p xmlns:a="http://schemas.openxmlformats.org/drawingml/2006/main">
            <a:r>
              <a:t>Support archive
A different repository with the same workload shape and target weakness classes.</a:t>
            </a:r>
          </a:p>
        </p:txBody>
      </p:sp>
    </p:spTree>
    <p:extLst>
      <p:ext uri="{BB962C8B-B14F-4D97-AF65-F5344CB8AC3E}">
        <p14:creationId xmlns:p14="http://schemas.microsoft.com/office/powerpoint/2010/main" val="13934569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3F6F69E-B773-8572-FA7F-ECBC69775926}"/>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671F7CA-962E-B7D5-11E1-86144832BC77}"/>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16</a:t>
            </a:fld>
            <a:endParaRPr/>
          </a:p>
        </p:txBody>
      </p:sp>
      <p:sp>
        <p:nvSpPr>
          <p:cNvPr id="11" name="Title 10">
            <a:extLst xmlns:a="http://schemas.openxmlformats.org/drawingml/2006/main">
              <a:ext uri="{FF2B5EF4-FFF2-40B4-BE49-F238E27FC236}">
                <a16:creationId xmlns:a16="http://schemas.microsoft.com/office/drawing/2014/main" id="{EE0017B1-61AD-F17E-4365-4C53665026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Eight controlled review checkpoints</a:t>
            </a:r>
          </a:p>
        </p:txBody>
      </p:sp>
      <p:sp>
        <p:nvSpPr>
          <p:cNvPr id="2" name="Content Placeholder 15">
            <a:extLst xmlns:a="http://schemas.openxmlformats.org/drawingml/2006/main">
              <a:ext uri="{FF2B5EF4-FFF2-40B4-BE49-F238E27FC236}">
                <a16:creationId xmlns:a16="http://schemas.microsoft.com/office/drawing/2014/main" id="{618AB53F-D83E-C97D-48FB-E643E6A74AF5}"/>
              </a:ext>
            </a:extLst>
          </p:cNvPr>
          <p:cNvSpPr>
            <a:spLocks xmlns:a="http://schemas.openxmlformats.org/drawingml/2006/main" noGrp="1"/>
          </p:cNvSpPr>
          <p:nvPr/>
        </p:nvSpPr>
        <p:spPr>
          <a:xfrm xmlns:a="http://schemas.openxmlformats.org/drawingml/2006/main">
            <a:off x="393700"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Task 2 · SQL</a:t>
            </a:r>
          </a:p>
          <a:p xmlns:a="http://schemas.openxmlformats.org/drawingml/2006/main">
            <a:r>
              <a:t>One vulnerable proposal</a:t>
            </a:r>
          </a:p>
        </p:txBody>
      </p:sp>
      <p:sp>
        <p:nvSpPr>
          <p:cNvPr id="3" name="Text Placeholder 16">
            <a:extLst xmlns:a="http://schemas.openxmlformats.org/drawingml/2006/main">
              <a:ext uri="{FF2B5EF4-FFF2-40B4-BE49-F238E27FC236}">
                <a16:creationId xmlns:a16="http://schemas.microsoft.com/office/drawing/2014/main" id="{15B6FC25-43EA-8D50-20ED-40A075FCB304}"/>
              </a:ext>
            </a:extLst>
          </p:cNvPr>
          <p:cNvSpPr>
            <a:spLocks xmlns:a="http://schemas.openxmlformats.org/drawingml/2006/main" noGrp="1"/>
          </p:cNvSpPr>
          <p:nvPr/>
        </p:nvSpPr>
        <p:spPr>
          <a:xfrm xmlns:a="http://schemas.openxmlformats.org/drawingml/2006/main">
            <a:off x="3334966"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Task 2 · SQL</a:t>
            </a:r>
          </a:p>
          <a:p xmlns:a="http://schemas.openxmlformats.org/drawingml/2006/main">
            <a:r>
              <a:t>One secure proposal</a:t>
            </a:r>
          </a:p>
        </p:txBody>
      </p:sp>
      <p:sp>
        <p:nvSpPr>
          <p:cNvPr id="5" name="Content Placeholder 17">
            <a:extLst xmlns:a="http://schemas.openxmlformats.org/drawingml/2006/main">
              <a:ext uri="{FF2B5EF4-FFF2-40B4-BE49-F238E27FC236}">
                <a16:creationId xmlns:a16="http://schemas.microsoft.com/office/drawing/2014/main" id="{DC86E5BF-3A43-49E0-A1B8-916150355914}"/>
              </a:ext>
            </a:extLst>
          </p:cNvPr>
          <p:cNvSpPr>
            <a:spLocks xmlns:a="http://schemas.openxmlformats.org/drawingml/2006/main" noGrp="1"/>
          </p:cNvSpPr>
          <p:nvPr/>
        </p:nvSpPr>
        <p:spPr>
          <a:xfrm xmlns:a="http://schemas.openxmlformats.org/drawingml/2006/main">
            <a:off x="6264413"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Task 2 · path</a:t>
            </a:r>
          </a:p>
          <a:p xmlns:a="http://schemas.openxmlformats.org/drawingml/2006/main">
            <a:r>
              <a:t>One vulnerable proposal</a:t>
            </a:r>
          </a:p>
        </p:txBody>
      </p:sp>
      <p:sp>
        <p:nvSpPr>
          <p:cNvPr id="6" name="Text Placeholder 18">
            <a:extLst xmlns:a="http://schemas.openxmlformats.org/drawingml/2006/main">
              <a:ext uri="{FF2B5EF4-FFF2-40B4-BE49-F238E27FC236}">
                <a16:creationId xmlns:a16="http://schemas.microsoft.com/office/drawing/2014/main" id="{941D607D-4DDA-372A-EE8A-A370B36C7859}"/>
              </a:ext>
            </a:extLst>
          </p:cNvPr>
          <p:cNvSpPr>
            <a:spLocks xmlns:a="http://schemas.openxmlformats.org/drawingml/2006/main" noGrp="1"/>
          </p:cNvSpPr>
          <p:nvPr/>
        </p:nvSpPr>
        <p:spPr>
          <a:xfrm xmlns:a="http://schemas.openxmlformats.org/drawingml/2006/main">
            <a:off x="9205679"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Task 2 · path</a:t>
            </a:r>
          </a:p>
          <a:p xmlns:a="http://schemas.openxmlformats.org/drawingml/2006/main">
            <a:r>
              <a:t>One secure proposal</a:t>
            </a:r>
          </a:p>
        </p:txBody>
      </p:sp>
      <p:sp>
        <p:nvSpPr>
          <p:cNvPr id="28" name="Content Placeholder 15">
            <a:extLst xmlns:a="http://schemas.openxmlformats.org/drawingml/2006/main">
              <a:ext uri="{FF2B5EF4-FFF2-40B4-BE49-F238E27FC236}">
                <a16:creationId xmlns:a16="http://schemas.microsoft.com/office/drawing/2014/main" id="{8EA52868-2F57-DCC5-19D5-764181B94516}"/>
              </a:ext>
            </a:extLst>
          </p:cNvPr>
          <p:cNvSpPr>
            <a:spLocks xmlns:a="http://schemas.openxmlformats.org/drawingml/2006/main" noGrp="1"/>
          </p:cNvSpPr>
          <p:nvPr/>
        </p:nvSpPr>
        <p:spPr>
          <a:xfrm xmlns:a="http://schemas.openxmlformats.org/drawingml/2006/main">
            <a:off x="393700"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Task 1 · SQL</a:t>
            </a:r>
          </a:p>
          <a:p xmlns:a="http://schemas.openxmlformats.org/drawingml/2006/main">
            <a:r>
              <a:t>One vulnerable proposal</a:t>
            </a:r>
          </a:p>
        </p:txBody>
      </p:sp>
      <p:sp>
        <p:nvSpPr>
          <p:cNvPr id="29" name="Text Placeholder 16">
            <a:extLst xmlns:a="http://schemas.openxmlformats.org/drawingml/2006/main">
              <a:ext uri="{FF2B5EF4-FFF2-40B4-BE49-F238E27FC236}">
                <a16:creationId xmlns:a16="http://schemas.microsoft.com/office/drawing/2014/main" id="{751AE029-57A0-A186-E791-1A4462A1CBCB}"/>
              </a:ext>
            </a:extLst>
          </p:cNvPr>
          <p:cNvSpPr>
            <a:spLocks xmlns:a="http://schemas.openxmlformats.org/drawingml/2006/main" noGrp="1"/>
          </p:cNvSpPr>
          <p:nvPr/>
        </p:nvSpPr>
        <p:spPr>
          <a:xfrm xmlns:a="http://schemas.openxmlformats.org/drawingml/2006/main">
            <a:off x="3334966"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Task 1 · SQL</a:t>
            </a:r>
          </a:p>
          <a:p xmlns:a="http://schemas.openxmlformats.org/drawingml/2006/main">
            <a:r>
              <a:t>One secure proposal</a:t>
            </a:r>
          </a:p>
        </p:txBody>
      </p:sp>
      <p:sp>
        <p:nvSpPr>
          <p:cNvPr id="30" name="Content Placeholder 17">
            <a:extLst xmlns:a="http://schemas.openxmlformats.org/drawingml/2006/main">
              <a:ext uri="{FF2B5EF4-FFF2-40B4-BE49-F238E27FC236}">
                <a16:creationId xmlns:a16="http://schemas.microsoft.com/office/drawing/2014/main" id="{84CDE6A4-554E-3362-3E09-93D47FDCD65A}"/>
              </a:ext>
            </a:extLst>
          </p:cNvPr>
          <p:cNvSpPr>
            <a:spLocks xmlns:a="http://schemas.openxmlformats.org/drawingml/2006/main" noGrp="1"/>
          </p:cNvSpPr>
          <p:nvPr/>
        </p:nvSpPr>
        <p:spPr>
          <a:xfrm xmlns:a="http://schemas.openxmlformats.org/drawingml/2006/main">
            <a:off x="6264413"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Task 1 · path</a:t>
            </a:r>
          </a:p>
          <a:p xmlns:a="http://schemas.openxmlformats.org/drawingml/2006/main">
            <a:r>
              <a:t>One vulnerable proposal</a:t>
            </a:r>
          </a:p>
        </p:txBody>
      </p:sp>
      <p:sp>
        <p:nvSpPr>
          <p:cNvPr id="31" name="Text Placeholder 18">
            <a:extLst xmlns:a="http://schemas.openxmlformats.org/drawingml/2006/main">
              <a:ext uri="{FF2B5EF4-FFF2-40B4-BE49-F238E27FC236}">
                <a16:creationId xmlns:a16="http://schemas.microsoft.com/office/drawing/2014/main" id="{E0575F69-0E47-58CD-4D15-A728423F7253}"/>
              </a:ext>
            </a:extLst>
          </p:cNvPr>
          <p:cNvSpPr>
            <a:spLocks xmlns:a="http://schemas.openxmlformats.org/drawingml/2006/main" noGrp="1"/>
          </p:cNvSpPr>
          <p:nvPr/>
        </p:nvSpPr>
        <p:spPr>
          <a:xfrm xmlns:a="http://schemas.openxmlformats.org/drawingml/2006/main">
            <a:off x="9205679"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Task 1 · path</a:t>
            </a:r>
          </a:p>
          <a:p xmlns:a="http://schemas.openxmlformats.org/drawingml/2006/main">
            <a:r>
              <a:t>One secure proposal</a:t>
            </a:r>
          </a:p>
        </p:txBody>
      </p:sp>
    </p:spTree>
    <p:extLst>
      <p:ext uri="{BB962C8B-B14F-4D97-AF65-F5344CB8AC3E}">
        <p14:creationId xmlns:p14="http://schemas.microsoft.com/office/powerpoint/2010/main" val="34307893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488"/>
            <a:ext cx="11404600" cy="128303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One checkpoint, from proposal to submission</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At decision</a:t>
            </a:r>
          </a:p>
          <a:p xmlns:a="http://schemas.openxmlformats.org/drawingml/2006/main">
            <a:r>
              <a:t>First keep/reject choice and confidence on the saved proposal.</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After decision</a:t>
            </a:r>
          </a:p>
          <a:p xmlns:a="http://schemas.openxmlformats.org/drawingml/2006/main">
            <a:r>
              <a:t>Free editing and repair with the agent; final repository snapshot.</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6" name="Rounded Rectangle 5">
            <a:extLst xmlns:a="http://schemas.openxmlformats.org/drawingml/2006/main">
              <a:ext uri="{FF2B5EF4-FFF2-40B4-BE49-F238E27FC236}">
                <a16:creationId xmlns:a16="http://schemas.microsoft.com/office/drawing/2014/main" id="{CEC1020B-1BFB-C461-94A3-B04496D488AD}"/>
              </a:ext>
            </a:extLst>
          </p:cNvPr>
          <p:cNvSpPr>
            <a:spLocks xmlns:a="http://schemas.openxmlformats.org/drawingml/2006/main" noGrp="1"/>
          </p:cNvSpPr>
          <p:nvPr/>
        </p:nvSpPr>
        <p:spPr>
          <a:xfrm xmlns:a="http://schemas.openxmlformats.org/drawingml/2006/main">
            <a:off x="388306"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tent Placeholder 9">
            <a:extLst xmlns:a="http://schemas.openxmlformats.org/drawingml/2006/main">
              <a:ext uri="{FF2B5EF4-FFF2-40B4-BE49-F238E27FC236}">
                <a16:creationId xmlns:a16="http://schemas.microsoft.com/office/drawing/2014/main" id="{BF9CE9B1-F78E-2E93-3127-A76A196DCEA9}"/>
              </a:ext>
            </a:extLst>
          </p:cNvPr>
          <p:cNvSpPr>
            <a:spLocks xmlns:a="http://schemas.openxmlformats.org/drawingml/2006/main" noGrp="1"/>
          </p:cNvSpPr>
          <p:nvPr/>
        </p:nvSpPr>
        <p:spPr>
          <a:xfrm xmlns:a="http://schemas.openxmlformats.org/drawingml/2006/main">
            <a:off x="70117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Before decision</a:t>
            </a:r>
          </a:p>
          <a:p xmlns:a="http://schemas.openxmlformats.org/drawingml/2006/main">
            <a:r>
              <a:t>Agent discussion, code inspection, tests, and security checks.</a:t>
            </a:r>
          </a:p>
        </p:txBody>
      </p:sp>
      <p:sp>
        <p:nvSpPr>
          <p:cNvPr id="8" name="Google Shape;340;p61">
            <a:extLst xmlns:a="http://schemas.openxmlformats.org/drawingml/2006/main">
              <a:ext uri="{FF2B5EF4-FFF2-40B4-BE49-F238E27FC236}">
                <a16:creationId xmlns:a16="http://schemas.microsoft.com/office/drawing/2014/main" id="{DFAB1693-7B48-B899-1715-D7B6F34DCE6C}"/>
              </a:ext>
            </a:extLst>
          </p:cNvPr>
          <p:cNvSpPr>
            <a:spLocks xmlns:a="http://schemas.openxmlformats.org/drawingml/2006/main" noGrp="1"/>
          </p:cNvSpPr>
          <p:nvPr/>
        </p:nvSpPr>
        <p:spPr>
          <a:xfrm xmlns:a="http://schemas.openxmlformats.org/drawingml/2006/main">
            <a:off x="706998"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Content Placeholder 15">
            <a:extLst xmlns:a="http://schemas.openxmlformats.org/drawingml/2006/main">
              <a:ext uri="{FF2B5EF4-FFF2-40B4-BE49-F238E27FC236}">
                <a16:creationId xmlns:a16="http://schemas.microsoft.com/office/drawing/2014/main" id="{34ED89C7-2856-344F-42B0-44B6A09E907B}"/>
              </a:ext>
            </a:extLst>
          </p:cNvPr>
          <p:cNvSpPr>
            <a:spLocks xmlns:a="http://schemas.openxmlformats.org/drawingml/2006/main" noGrp="1"/>
          </p:cNvSpPr>
          <p:nvPr/>
        </p:nvSpPr>
        <p:spPr>
          <a:xfrm xmlns:a="http://schemas.openxmlformats.org/drawingml/2006/main">
            <a:off x="393701" y="145052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The reviewed snapshot anchors the measures</a:t>
            </a:r>
          </a:p>
          <a:p xmlns:a="http://schemas.openxmlformats.org/drawingml/2006/main">
            <a:r>
              <a:t>The participant sees the supplied change, can inspect and test it, then records a provisional choice and a 0–100% security estimate for that exact frozen proposal.</a:t>
            </a:r>
          </a:p>
        </p:txBody>
      </p:sp>
    </p:spTree>
    <p:extLst>
      <p:ext uri="{BB962C8B-B14F-4D97-AF65-F5344CB8AC3E}">
        <p14:creationId xmlns:p14="http://schemas.microsoft.com/office/powerpoint/2010/main" val="15661830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Proposal provenance and security truth</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Current prototype</a:t>
            </a:r>
          </a:p>
          <a:p xmlns:a="http://schemas.openxmlformats.org/drawingml/2006/main">
            <a:r>
              <a:t>Sixteen candidate patches are researcher-constructed. Local functional and target-security oracle checks pass. They support engineering rehearsal, not claims about naturally generated agent failures.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Before interpretable participant use</a:t>
            </a:r>
          </a:p>
          <a:p xmlns:a="http://schemas.openxmlformats.org/drawingml/2006/main">
            <a:r>
              <a:t>Document genuine agent outputs or disclose constructed proposals. Confirm meaningful visibility, save proposal hashes, and obtain independent blinded security review.</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Evidence captured at each stage</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a:latin typeface="Helvetica Neue"/>
                <a:ea typeface="Helvetica Neue"/>
                <a:cs typeface="Helvetica Neue"/>
              </a:rPr>
              <a:t>Link each security judgment</a:t>
            </a:r>
            <a:endParaRPr>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to the same saved code</a:t>
            </a:r>
            <a:endParaRPr>
              <a:latin typeface="Helvetica Neue"/>
              <a:ea typeface="Helvetica Neue"/>
              <a:cs typeface="Helvetica Neue"/>
            </a:endParaRPr>
          </a:p>
        </p:txBody>
      </p:sp>
      <p:sp>
        <p:nvSpPr>
          <p:cNvPr id="2" name="Content Placeholder 10">
            <a:extLst xmlns:a="http://schemas.openxmlformats.org/drawingml/2006/main">
              <a:ext uri="{FF2B5EF4-FFF2-40B4-BE49-F238E27FC236}">
                <a16:creationId xmlns:a16="http://schemas.microsoft.com/office/drawing/2014/main" id="{F1357382-F889-8A40-7C64-C4E276E66544}"/>
              </a:ext>
            </a:extLst>
          </p:cNvPr>
          <p:cNvSpPr>
            <a:spLocks xmlns:a="http://schemas.openxmlformats.org/drawingml/2006/main" noGrp="1"/>
          </p:cNvSpPr>
          <p:nvPr/>
        </p:nvSpPr>
        <p:spPr>
          <a:xfrm xmlns:a="http://schemas.openxmlformats.org/drawingml/2006/main">
            <a:off x="7886700" y="2990317"/>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Portal decisions and forms</a:t>
            </a:r>
          </a:p>
        </p:txBody>
      </p:sp>
      <p:sp>
        <p:nvSpPr>
          <p:cNvPr id="3" name="Google Shape;340;p61">
            <a:extLst xmlns:a="http://schemas.openxmlformats.org/drawingml/2006/main">
              <a:ext uri="{FF2B5EF4-FFF2-40B4-BE49-F238E27FC236}">
                <a16:creationId xmlns:a16="http://schemas.microsoft.com/office/drawing/2014/main" id="{DECE1942-1885-9577-DF5F-685A8B1C7180}"/>
              </a:ext>
            </a:extLst>
          </p:cNvPr>
          <p:cNvSpPr>
            <a:spLocks xmlns:a="http://schemas.openxmlformats.org/drawingml/2006/main" noGrp="1"/>
          </p:cNvSpPr>
          <p:nvPr/>
        </p:nvSpPr>
        <p:spPr>
          <a:xfrm xmlns:a="http://schemas.openxmlformats.org/drawingml/2006/main">
            <a:off x="7507725" y="3015150"/>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3700" y="2990316"/>
            <a:ext cx="5537200" cy="288463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The portal records exposure, first choice, confidence, and final uploads. Code snapshots and hashes preserve the reviewed and submitted states. Video, the agent transcript, and interview explain the checks and decisions between them.</a:t>
            </a:r>
          </a:p>
        </p:txBody>
      </p:sp>
      <p:sp>
        <p:nvSpPr>
          <p:cNvPr id="16" name="Content Placeholder 10">
            <a:extLst xmlns:a="http://schemas.openxmlformats.org/drawingml/2006/main">
              <a:ext uri="{FF2B5EF4-FFF2-40B4-BE49-F238E27FC236}">
                <a16:creationId xmlns:a16="http://schemas.microsoft.com/office/drawing/2014/main" id="{01B260BF-9264-3C70-DF2D-2E6EA83AC133}"/>
              </a:ext>
            </a:extLst>
          </p:cNvPr>
          <p:cNvSpPr>
            <a:spLocks xmlns:a="http://schemas.openxmlformats.org/drawingml/2006/main" noGrp="1"/>
          </p:cNvSpPr>
          <p:nvPr/>
        </p:nvSpPr>
        <p:spPr>
          <a:xfrm xmlns:a="http://schemas.openxmlformats.org/drawingml/2006/main">
            <a:off x="7886700" y="3599916"/>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Frozen and final code snapshots</a:t>
            </a:r>
          </a:p>
        </p:txBody>
      </p:sp>
      <p:sp>
        <p:nvSpPr>
          <p:cNvPr id="17" name="Google Shape;340;p61">
            <a:extLst xmlns:a="http://schemas.openxmlformats.org/drawingml/2006/main">
              <a:ext uri="{FF2B5EF4-FFF2-40B4-BE49-F238E27FC236}">
                <a16:creationId xmlns:a16="http://schemas.microsoft.com/office/drawing/2014/main" id="{A6CF1E9A-BF4C-E7B2-D556-8AB5FB2B65F0}"/>
              </a:ext>
            </a:extLst>
          </p:cNvPr>
          <p:cNvSpPr>
            <a:spLocks xmlns:a="http://schemas.openxmlformats.org/drawingml/2006/main" noGrp="1"/>
          </p:cNvSpPr>
          <p:nvPr/>
        </p:nvSpPr>
        <p:spPr>
          <a:xfrm xmlns:a="http://schemas.openxmlformats.org/drawingml/2006/main">
            <a:off x="7507725" y="3624749"/>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8" name="Content Placeholder 10">
            <a:extLst xmlns:a="http://schemas.openxmlformats.org/drawingml/2006/main">
              <a:ext uri="{FF2B5EF4-FFF2-40B4-BE49-F238E27FC236}">
                <a16:creationId xmlns:a16="http://schemas.microsoft.com/office/drawing/2014/main" id="{FE696631-18B5-8115-E5AD-ACCFD6221418}"/>
              </a:ext>
            </a:extLst>
          </p:cNvPr>
          <p:cNvSpPr>
            <a:spLocks xmlns:a="http://schemas.openxmlformats.org/drawingml/2006/main" noGrp="1"/>
          </p:cNvSpPr>
          <p:nvPr/>
        </p:nvSpPr>
        <p:spPr>
          <a:xfrm xmlns:a="http://schemas.openxmlformats.org/drawingml/2006/main">
            <a:off x="7886700" y="4214765"/>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Agent transcript and hook events</a:t>
            </a:r>
          </a:p>
        </p:txBody>
      </p:sp>
      <p:sp>
        <p:nvSpPr>
          <p:cNvPr id="19" name="Google Shape;340;p61">
            <a:extLst xmlns:a="http://schemas.openxmlformats.org/drawingml/2006/main">
              <a:ext uri="{FF2B5EF4-FFF2-40B4-BE49-F238E27FC236}">
                <a16:creationId xmlns:a16="http://schemas.microsoft.com/office/drawing/2014/main" id="{6ECBDA1E-6C7D-6B0F-A430-DF8A0965C58D}"/>
              </a:ext>
            </a:extLst>
          </p:cNvPr>
          <p:cNvSpPr>
            <a:spLocks xmlns:a="http://schemas.openxmlformats.org/drawingml/2006/main" noGrp="1"/>
          </p:cNvSpPr>
          <p:nvPr/>
        </p:nvSpPr>
        <p:spPr>
          <a:xfrm xmlns:a="http://schemas.openxmlformats.org/drawingml/2006/main">
            <a:off x="7507725" y="4239598"/>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0" name="Content Placeholder 10">
            <a:extLst xmlns:a="http://schemas.openxmlformats.org/drawingml/2006/main">
              <a:ext uri="{FF2B5EF4-FFF2-40B4-BE49-F238E27FC236}">
                <a16:creationId xmlns:a16="http://schemas.microsoft.com/office/drawing/2014/main" id="{9FC4B09F-4593-687E-52A3-7E683F7FE9E4}"/>
              </a:ext>
            </a:extLst>
          </p:cNvPr>
          <p:cNvSpPr>
            <a:spLocks xmlns:a="http://schemas.openxmlformats.org/drawingml/2006/main" noGrp="1"/>
          </p:cNvSpPr>
          <p:nvPr/>
        </p:nvSpPr>
        <p:spPr>
          <a:xfrm xmlns:a="http://schemas.openxmlformats.org/drawingml/2006/main">
            <a:off x="7886700" y="48243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Consented screen recording</a:t>
            </a:r>
          </a:p>
        </p:txBody>
      </p:sp>
      <p:sp>
        <p:nvSpPr>
          <p:cNvPr id="21" name="Google Shape;340;p61">
            <a:extLst xmlns:a="http://schemas.openxmlformats.org/drawingml/2006/main">
              <a:ext uri="{FF2B5EF4-FFF2-40B4-BE49-F238E27FC236}">
                <a16:creationId xmlns:a16="http://schemas.microsoft.com/office/drawing/2014/main" id="{006032E6-DDFC-FA22-4D08-3BFFC755BB8D}"/>
              </a:ext>
            </a:extLst>
          </p:cNvPr>
          <p:cNvSpPr>
            <a:spLocks xmlns:a="http://schemas.openxmlformats.org/drawingml/2006/main" noGrp="1"/>
          </p:cNvSpPr>
          <p:nvPr/>
        </p:nvSpPr>
        <p:spPr>
          <a:xfrm xmlns:a="http://schemas.openxmlformats.org/drawingml/2006/main">
            <a:off x="7507725" y="48491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3" name="Content Placeholder 10">
            <a:extLst xmlns:a="http://schemas.openxmlformats.org/drawingml/2006/main">
              <a:ext uri="{FF2B5EF4-FFF2-40B4-BE49-F238E27FC236}">
                <a16:creationId xmlns:a16="http://schemas.microsoft.com/office/drawing/2014/main" id="{EDAB1F81-E12B-29DC-E09F-27F129E42AE8}"/>
              </a:ext>
            </a:extLst>
          </p:cNvPr>
          <p:cNvSpPr>
            <a:spLocks xmlns:a="http://schemas.openxmlformats.org/drawingml/2006/main" noGrp="1"/>
          </p:cNvSpPr>
          <p:nvPr/>
        </p:nvSpPr>
        <p:spPr>
          <a:xfrm xmlns:a="http://schemas.openxmlformats.org/drawingml/2006/main">
            <a:off x="7886700" y="54466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Interview and blinded review</a:t>
            </a:r>
          </a:p>
        </p:txBody>
      </p:sp>
      <p:sp>
        <p:nvSpPr>
          <p:cNvPr id="24" name="Google Shape;340;p61">
            <a:extLst xmlns:a="http://schemas.openxmlformats.org/drawingml/2006/main">
              <a:ext uri="{FF2B5EF4-FFF2-40B4-BE49-F238E27FC236}">
                <a16:creationId xmlns:a16="http://schemas.microsoft.com/office/drawing/2014/main" id="{A052337A-4696-49F7-A089-E21DA71AD3B2}"/>
              </a:ext>
            </a:extLst>
          </p:cNvPr>
          <p:cNvSpPr>
            <a:spLocks xmlns:a="http://schemas.openxmlformats.org/drawingml/2006/main" noGrp="1"/>
          </p:cNvSpPr>
          <p:nvPr/>
        </p:nvSpPr>
        <p:spPr>
          <a:xfrm xmlns:a="http://schemas.openxmlformats.org/drawingml/2006/main">
            <a:off x="7507725" y="54714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2DD23107-4986-8758-3A93-3D74F35908CC}" type="slidenum">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How the four RQs will be evaluated</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r>
              <a:rPr b="1"/>
              <a:t>RQ1  Alignment</a:t>
            </a:r>
          </a:p>
          <a:p xmlns:a="http://schemas.openxmlformats.org/drawingml/2006/main">
            <a:r>
              <a:t>Paired task Brier scores; secure and vulnerable confidence separately.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r>
              <a:rPr b="1"/>
              <a:t>RQ2  Final security</a:t>
            </a:r>
          </a:p>
          <a:p xmlns:a="http://schemas.openxmlformats.org/drawingml/2006/main">
            <a:r>
              <a:t>Trace each exposed weakness to final security and functionality.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RQ3  Checks</a:t>
            </a:r>
          </a:p>
          <a:p xmlns:a="http://schemas.openxmlformats.org/drawingml/2006/main">
            <a:r>
              <a:t>Code checks by phase; describe their association with repair.</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RQ4  Class</a:t>
            </a:r>
          </a:p>
          <a:p xmlns:a="http://schemas.openxmlformats.org/drawingml/2006/main">
            <a:r>
              <a:t>Show SQL and path contrasts with counts and intervals.</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Validity checks built into the plan</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Code observed purpose from video, prompts, and interview.</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MODE</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Balance projects and task position; report actual allocations.</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ORDER</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Verify that each proposal was meaningfully visible.</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EXPOSURE</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Use attack tests plus blinded human security review.</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OUTCOME</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 condition contrast needs more than two labels</a:t>
            </a:r>
          </a:p>
          <a:p xmlns:a="http://schemas.openxmlformats.org/drawingml/2006/main">
            <a:r>
              <a:t>Assignment, exposure, behavior coding, and final code must all be checked before interpreting an effect.</a:t>
            </a:r>
          </a:p>
        </p:txBody>
      </p:sp>
    </p:spTree>
    <p:extLst>
      <p:ext uri="{BB962C8B-B14F-4D97-AF65-F5344CB8AC3E}">
        <p14:creationId xmlns:p14="http://schemas.microsoft.com/office/powerpoint/2010/main" val="67611695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19</a:t>
            </a:fld>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Current progress: working prototype</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Runnable JavaScript projects</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Review checkpoints in a complete two-task run</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fontScale="99479"/>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Constructed candidate patches checked against local oracles</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2</a:t>
            </a:r>
            <a:endParaRPr sz="7500"/>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16</a:t>
            </a:r>
            <a:endParaRPr sz="7500"/>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8</a:t>
            </a:r>
            <a:endParaRPr sz="7500"/>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Engineering evidence, not participant outcomes</a:t>
            </a:r>
          </a:p>
          <a:p xmlns:a="http://schemas.openxmlformats.org/drawingml/2006/main">
            <a:r>
              <a:t>Synthetic two-task runs linked proposal exposure, decisions, confidence ratings, and final snapshots. No human pilot or main-study results exist yet.</a:t>
            </a:r>
          </a:p>
        </p:txBody>
      </p:sp>
      <p:sp>
        <p:nvSpPr>
          <p:cNvPr id="16" name="Footer Placeholder 6">
            <a:extLst xmlns:a="http://schemas.openxmlformats.org/drawingml/2006/main">
              <a:ext uri="{FF2B5EF4-FFF2-40B4-BE49-F238E27FC236}">
                <a16:creationId xmlns:a16="http://schemas.microsoft.com/office/drawing/2014/main" id="{900EC5BE-2B4D-939D-B2BC-321F895D023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DC9C7607-4BA3-B4DC-A00F-2E67A9FCFF7E}" type="slidenum">
              <a:t>16</a:t>
            </a:fld>
            <a:endParaRPr/>
          </a:p>
        </p:txBody>
      </p:sp>
      <p:sp>
        <p:nvSpPr>
          <p:cNvPr id="11" name="Title 10">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Pilot results: reserved for human sessions</a:t>
            </a:r>
          </a:p>
        </p:txBody>
      </p:sp>
      <p:cxnSp>
        <p:nvCxnSpPr>
          <p:cNvPr id="29" name="Google Shape;2259;p159"/>
          <p:cNvCxnSpPr>
            <a:stCxn xmlns:a="http://schemas.openxmlformats.org/drawingml/2006/main" id="3" idx="2"/>
          </p:cNvCxnSpPr>
          <p:nvPr/>
        </p:nvCxnSpPr>
        <p:spPr>
          <a:xfrm xmlns:a="http://schemas.openxmlformats.org/drawingml/2006/main">
            <a:off x="337718" y="5341621"/>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96976673-0764-B027-B369-C8C94D395088}"/>
              </a:ext>
            </a:extLst>
          </p:cNvPr>
          <p:cNvSpPr>
            <a:spLocks xmlns:a="http://schemas.openxmlformats.org/drawingml/2006/main" noGrp="1"/>
          </p:cNvSpPr>
          <p:nvPr/>
        </p:nvSpPr>
        <p:spPr>
          <a:xfrm xmlns:a="http://schemas.openxmlformats.org/drawingml/2006/main">
            <a:off x="337718"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80D9DF3C-FD01-7A5C-C521-9B86480D4057}"/>
              </a:ext>
            </a:extLst>
          </p:cNvPr>
          <p:cNvSpPr>
            <a:spLocks xmlns:a="http://schemas.openxmlformats.org/drawingml/2006/main" noGrp="1"/>
          </p:cNvSpPr>
          <p:nvPr/>
        </p:nvSpPr>
        <p:spPr>
          <a:xfrm xmlns:a="http://schemas.openxmlformats.org/drawingml/2006/main">
            <a:off x="425175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37DF6577-8813-93FC-E0AA-22F96D3445FC}"/>
              </a:ext>
            </a:extLst>
          </p:cNvPr>
          <p:cNvSpPr>
            <a:spLocks xmlns:a="http://schemas.openxmlformats.org/drawingml/2006/main" noGrp="1"/>
          </p:cNvSpPr>
          <p:nvPr/>
        </p:nvSpPr>
        <p:spPr>
          <a:xfrm xmlns:a="http://schemas.openxmlformats.org/drawingml/2006/main">
            <a:off x="817605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20" name="Rounded Rectangle 19">
            <a:extLst xmlns:a="http://schemas.openxmlformats.org/drawingml/2006/main">
              <a:ext uri="{FF2B5EF4-FFF2-40B4-BE49-F238E27FC236}">
                <a16:creationId xmlns:a16="http://schemas.microsoft.com/office/drawing/2014/main" id="{18323F9C-3DB1-9BB3-9462-18B6435C1038}"/>
              </a:ext>
            </a:extLst>
          </p:cNvPr>
          <p:cNvSpPr>
            <a:spLocks xmlns:a="http://schemas.openxmlformats.org/drawingml/2006/main" noGrp="1"/>
          </p:cNvSpPr>
          <p:nvPr/>
        </p:nvSpPr>
        <p:spPr>
          <a:xfrm xmlns:a="http://schemas.openxmlformats.org/drawingml/2006/main">
            <a:off x="393700"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Content Placeholder 8">
            <a:extLst xmlns:a="http://schemas.openxmlformats.org/drawingml/2006/main">
              <a:ext uri="{FF2B5EF4-FFF2-40B4-BE49-F238E27FC236}">
                <a16:creationId xmlns:a16="http://schemas.microsoft.com/office/drawing/2014/main" id="{052F45FF-C9C5-2664-7FF7-CFEC29737802}"/>
              </a:ext>
            </a:extLst>
          </p:cNvPr>
          <p:cNvSpPr>
            <a:spLocks xmlns:a="http://schemas.openxmlformats.org/drawingml/2006/main" noGrp="1"/>
          </p:cNvSpPr>
          <p:nvPr/>
        </p:nvSpPr>
        <p:spPr>
          <a:xfrm xmlns:a="http://schemas.openxmlformats.org/drawingml/2006/main">
            <a:off x="703381"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Feasibility</a:t>
            </a:r>
          </a:p>
          <a:p xmlns:a="http://schemas.openxmlformats.org/drawingml/2006/main">
            <a:r>
              <a:t>Pending: completion time, skipped checkpoints, task difficulty, and participant feedback.</a:t>
            </a:r>
          </a:p>
        </p:txBody>
      </p:sp>
      <p:sp>
        <p:nvSpPr>
          <p:cNvPr id="22" name="Rounded Rectangle 21">
            <a:extLst xmlns:a="http://schemas.openxmlformats.org/drawingml/2006/main">
              <a:ext uri="{FF2B5EF4-FFF2-40B4-BE49-F238E27FC236}">
                <a16:creationId xmlns:a16="http://schemas.microsoft.com/office/drawing/2014/main" id="{C3E867C1-C7DA-85C7-C8DC-55F132F2923B}"/>
              </a:ext>
            </a:extLst>
          </p:cNvPr>
          <p:cNvSpPr>
            <a:spLocks xmlns:a="http://schemas.openxmlformats.org/drawingml/2006/main" noGrp="1"/>
          </p:cNvSpPr>
          <p:nvPr/>
        </p:nvSpPr>
        <p:spPr>
          <a:xfrm xmlns:a="http://schemas.openxmlformats.org/drawingml/2006/main">
            <a:off x="4308475"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Content Placeholder 8">
            <a:extLst xmlns:a="http://schemas.openxmlformats.org/drawingml/2006/main">
              <a:ext uri="{FF2B5EF4-FFF2-40B4-BE49-F238E27FC236}">
                <a16:creationId xmlns:a16="http://schemas.microsoft.com/office/drawing/2014/main" id="{5C40FE43-DE8E-7C68-A6D4-F8D8AECE747F}"/>
              </a:ext>
            </a:extLst>
          </p:cNvPr>
          <p:cNvSpPr>
            <a:spLocks xmlns:a="http://schemas.openxmlformats.org/drawingml/2006/main" noGrp="1"/>
          </p:cNvSpPr>
          <p:nvPr/>
        </p:nvSpPr>
        <p:spPr>
          <a:xfrm xmlns:a="http://schemas.openxmlformats.org/drawingml/2006/main">
            <a:off x="4618156"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Condition check</a:t>
            </a:r>
          </a:p>
          <a:p xmlns:a="http://schemas.openxmlformats.org/drawingml/2006/main">
            <a:r>
              <a:t>Pending: observed acceleration/exploration episodes, order effects, and gate disruption.</a:t>
            </a:r>
          </a:p>
        </p:txBody>
      </p:sp>
      <p:sp>
        <p:nvSpPr>
          <p:cNvPr id="24" name="Rounded Rectangle 23">
            <a:extLst xmlns:a="http://schemas.openxmlformats.org/drawingml/2006/main">
              <a:ext uri="{FF2B5EF4-FFF2-40B4-BE49-F238E27FC236}">
                <a16:creationId xmlns:a16="http://schemas.microsoft.com/office/drawing/2014/main" id="{EA9CAD1D-ACB2-1454-6255-0DA0ECB85F88}"/>
              </a:ext>
            </a:extLst>
          </p:cNvPr>
          <p:cNvSpPr>
            <a:spLocks xmlns:a="http://schemas.openxmlformats.org/drawingml/2006/main" noGrp="1"/>
          </p:cNvSpPr>
          <p:nvPr/>
        </p:nvSpPr>
        <p:spPr>
          <a:xfrm xmlns:a="http://schemas.openxmlformats.org/drawingml/2006/main">
            <a:off x="8237538"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Content Placeholder 8">
            <a:extLst xmlns:a="http://schemas.openxmlformats.org/drawingml/2006/main">
              <a:ext uri="{FF2B5EF4-FFF2-40B4-BE49-F238E27FC236}">
                <a16:creationId xmlns:a16="http://schemas.microsoft.com/office/drawing/2014/main" id="{AECA4705-7C1E-A1DB-1156-729DDE0C588F}"/>
              </a:ext>
            </a:extLst>
          </p:cNvPr>
          <p:cNvSpPr>
            <a:spLocks xmlns:a="http://schemas.openxmlformats.org/drawingml/2006/main" noGrp="1"/>
          </p:cNvSpPr>
          <p:nvPr/>
        </p:nvSpPr>
        <p:spPr>
          <a:xfrm xmlns:a="http://schemas.openxmlformats.org/drawingml/2006/main">
            <a:off x="8547219"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Measurement quality</a:t>
            </a:r>
          </a:p>
          <a:p xmlns:a="http://schemas.openxmlformats.org/drawingml/2006/main">
            <a:r>
              <a:t>Pending: proposal visibility, transcript/video coverage, confidence wording, and review agreement.</a:t>
            </a:r>
          </a:p>
        </p:txBody>
      </p:sp>
      <p:sp>
        <p:nvSpPr>
          <p:cNvPr id="8" name="Text Placeholder 16">
            <a:extLst xmlns:a="http://schemas.openxmlformats.org/drawingml/2006/main">
              <a:ext uri="{FF2B5EF4-FFF2-40B4-BE49-F238E27FC236}">
                <a16:creationId xmlns:a16="http://schemas.microsoft.com/office/drawing/2014/main" id="{013F05BF-0D59-AD7B-B623-A2626D8E3303}"/>
              </a:ext>
            </a:extLst>
          </p:cNvPr>
          <p:cNvSpPr>
            <a:spLocks xmlns:a="http://schemas.openxmlformats.org/drawingml/2006/main" noGrp="1"/>
          </p:cNvSpPr>
          <p:nvPr/>
        </p:nvSpPr>
        <p:spPr>
          <a:xfrm xmlns:a="http://schemas.openxmlformats.org/drawingml/2006/main">
            <a:off x="42517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
        <p:nvSpPr>
          <p:cNvPr id="12" name="Text Placeholder 16">
            <a:extLst xmlns:a="http://schemas.openxmlformats.org/drawingml/2006/main">
              <a:ext uri="{FF2B5EF4-FFF2-40B4-BE49-F238E27FC236}">
                <a16:creationId xmlns:a16="http://schemas.microsoft.com/office/drawing/2014/main" id="{BD278DD6-3486-8F28-C119-6A1866BD8D2F}"/>
              </a:ext>
            </a:extLst>
          </p:cNvPr>
          <p:cNvSpPr>
            <a:spLocks xmlns:a="http://schemas.openxmlformats.org/drawingml/2006/main" noGrp="1"/>
          </p:cNvSpPr>
          <p:nvPr/>
        </p:nvSpPr>
        <p:spPr>
          <a:xfrm xmlns:a="http://schemas.openxmlformats.org/drawingml/2006/main">
            <a:off x="3909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
        <p:nvSpPr>
          <p:cNvPr id="13" name="Text Placeholder 16">
            <a:extLst xmlns:a="http://schemas.openxmlformats.org/drawingml/2006/main">
              <a:ext uri="{FF2B5EF4-FFF2-40B4-BE49-F238E27FC236}">
                <a16:creationId xmlns:a16="http://schemas.microsoft.com/office/drawing/2014/main" id="{DAB1D750-F0E1-A3C4-989E-260B04C4A85B}"/>
              </a:ext>
            </a:extLst>
          </p:cNvPr>
          <p:cNvSpPr>
            <a:spLocks xmlns:a="http://schemas.openxmlformats.org/drawingml/2006/main" noGrp="1"/>
          </p:cNvSpPr>
          <p:nvPr/>
        </p:nvSpPr>
        <p:spPr>
          <a:xfrm xmlns:a="http://schemas.openxmlformats.org/drawingml/2006/main">
            <a:off x="8225439"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Tree>
    <p:extLst>
      <p:ext uri="{BB962C8B-B14F-4D97-AF65-F5344CB8AC3E}">
        <p14:creationId xmlns:p14="http://schemas.microsoft.com/office/powerpoint/2010/main" val="167841331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90F7333B-44AC-F7E9-D49D-FE92F45E0477}" type="slidenum">
              <a:t>17</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Next research gates</a:t>
            </a:r>
          </a:p>
        </p:txBody>
      </p:sp>
      <p:cxnSp>
        <p:nvCxnSpPr>
          <p:cNvPr id="23"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1</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2</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3</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Human pilot</a:t>
            </a:r>
          </a:p>
          <a:p xmlns:a="http://schemas.openxmlformats.org/drawingml/2006/main">
            <a:r>
              <a:t>Test wording and run 4–6 sessions. Revise any failed procedure.</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Host and materials</a:t>
            </a:r>
          </a:p>
          <a:p xmlns:a="http://schemas.openxmlformats.org/drawingml/2006/main">
            <a:r>
              <a:t>Reconcile approval and provenance. Rehearse Antigravity capture on the study host.</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Main study</a:t>
            </a:r>
          </a:p>
          <a:p xmlns:a="http://schemas.openxmlformats.org/drawingml/2006/main">
            <a:r>
              <a:t>Freeze the protocol and analysis, then recruit and estimate RQ contrasts.</a:t>
            </a:r>
          </a:p>
        </p:txBody>
      </p:sp>
    </p:spTree>
    <p:extLst>
      <p:ext uri="{BB962C8B-B14F-4D97-AF65-F5344CB8AC3E}">
        <p14:creationId xmlns:p14="http://schemas.microsoft.com/office/powerpoint/2010/main" val="344633891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From judgment
to final code</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700" y="4973320"/>
            <a:ext cx="3568700" cy="1080246"/>
          </a:xfrm>
        </p:spPr>
        <p:txBody>
          <a:bodyPr xmlns:a="http://schemas.openxmlformats.org/drawingml/2006/main">
            <a:noAutofit/>
          </a:bodyPr>
          <a:lstStyle xmlns:a="http://schemas.openxmlformats.org/drawingml/2006/main"/>
          <a:p xmlns:a="http://schemas.openxmlformats.org/drawingml/2006/main">
            <a:r>
              <a:rPr sz="2000"/>
              <a:t>The study links each reviewed proposal to security confidence, verification, and the submitted code.</a:t>
            </a:r>
          </a:p>
          <a:p xmlns:a="http://schemas.openxmlformats.org/drawingml/2006/main">
            <a:r>
              <a:rPr sz="2000"/>
              <a:t>Pilot and main-study evidence are still to come.</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THANK YOU</a:t>
            </a:r>
          </a:p>
        </p:txBody>
      </p:sp>
    </p:spTree>
    <p:extLst>
      <p:ext uri="{BB962C8B-B14F-4D97-AF65-F5344CB8AC3E}">
        <p14:creationId xmlns:p14="http://schemas.microsoft.com/office/powerpoint/2010/main" val="365367855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CCF91274-D221-1BB4-3BF9-836E3AD31EBE}" type="slidenum">
              <a:t>19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Selected references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Developer interaction and trust</a:t>
            </a:r>
          </a:p>
          <a:p xmlns:a="http://schemas.openxmlformats.org/drawingml/2006/main">
            <a:r>
              <a:t>Barke et al. (2022), Grounded Copilot
Brown et al. (2024), Trust in code completion
Wang et al. (2024), Trust in code generation
Okamura &amp; Yamada (2020), Trust calibration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Security and method</a:t>
            </a:r>
          </a:p>
          <a:p xmlns:a="http://schemas.openxmlformats.org/drawingml/2006/main">
            <a:r>
              <a:t>Perry et al. (2022), AI-assisted insecure code
Khalid et al. (2026), Insecure AI suggestions
Oh et al. (2023), Insecure suggestions
Tang et al. (2024), Validation and repair</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2026-10-12T11:56:48.8050000Z</dcterms:created>
  <dcterms:modified xsi:type="dcterms:W3CDTF">2026-10-12T11:56:48.8050000Z</dcterms:modified>
</coreProperties>
</file>